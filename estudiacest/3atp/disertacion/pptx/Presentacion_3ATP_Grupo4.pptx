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d471a08c3145d1" /><Relationship Type="http://schemas.openxmlformats.org/officeDocument/2006/relationships/extended-properties" Target="/docProps/app.xml" Id="R8c295577f90a4809" /><Relationship Type="http://schemas.openxmlformats.org/officeDocument/2006/relationships/officeDocument" Target="/ppt/presentation.xml" Id="Ra5c0c34285074a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a77a1062a54def"/>
  </p:sldMasterIdLst>
  <p:notesMasterIdLst>
    <p:notesMasterId xmlns:r="http://schemas.openxmlformats.org/officeDocument/2006/relationships" r:id="Rdc5c229d1e204926"/>
  </p:notesMasterIdLst>
  <p:sldIdLst>
    <p:sldId xmlns:r="http://schemas.openxmlformats.org/officeDocument/2006/relationships" id="256" r:id="R5047a9a40dbf4979"/>
    <p:sldId xmlns:r="http://schemas.openxmlformats.org/officeDocument/2006/relationships" id="257" r:id="R1fca91abaca94c1a"/>
    <p:sldId xmlns:r="http://schemas.openxmlformats.org/officeDocument/2006/relationships" id="258" r:id="R2dda73e27e72440b"/>
    <p:sldId xmlns:r="http://schemas.openxmlformats.org/officeDocument/2006/relationships" id="259" r:id="R9229361883c5435e"/>
    <p:sldId xmlns:r="http://schemas.openxmlformats.org/officeDocument/2006/relationships" id="260" r:id="R83cd1263eba14005"/>
    <p:sldId xmlns:r="http://schemas.openxmlformats.org/officeDocument/2006/relationships" id="261" r:id="R73d587f0132945aa"/>
    <p:sldId xmlns:r="http://schemas.openxmlformats.org/officeDocument/2006/relationships" id="262" r:id="R4e591f8cb57a4c24"/>
    <p:sldId xmlns:r="http://schemas.openxmlformats.org/officeDocument/2006/relationships" id="263" r:id="R6238e734cd3f49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4ff0fad11b4271" /><Relationship Type="http://schemas.openxmlformats.org/officeDocument/2006/relationships/slideMaster" Target="/ppt/slideMasters/slideMaster1.xml" Id="R51a77a1062a54def" /><Relationship Type="http://schemas.openxmlformats.org/officeDocument/2006/relationships/notesMaster" Target="/ppt/notesMasters/notesMaster1.xml" Id="Rdc5c229d1e204926" /><Relationship Type="http://schemas.openxmlformats.org/officeDocument/2006/relationships/presProps" Target="/ppt/presProps.xml" Id="R99f7548f17c4468a" /><Relationship Type="http://schemas.openxmlformats.org/officeDocument/2006/relationships/tableStyles" Target="/ppt/tableStyles.xml" Id="Rfad67c289ba74811" /><Relationship Type="http://schemas.openxmlformats.org/officeDocument/2006/relationships/slide" Target="/ppt/slides/slide1.xml" Id="R5047a9a40dbf4979" /><Relationship Type="http://schemas.openxmlformats.org/officeDocument/2006/relationships/slide" Target="/ppt/slides/slide2.xml" Id="R1fca91abaca94c1a" /><Relationship Type="http://schemas.openxmlformats.org/officeDocument/2006/relationships/slide" Target="/ppt/slides/slide3.xml" Id="R2dda73e27e72440b" /><Relationship Type="http://schemas.openxmlformats.org/officeDocument/2006/relationships/slide" Target="/ppt/slides/slide4.xml" Id="R9229361883c5435e" /><Relationship Type="http://schemas.openxmlformats.org/officeDocument/2006/relationships/slide" Target="/ppt/slides/slide5.xml" Id="R83cd1263eba14005" /><Relationship Type="http://schemas.openxmlformats.org/officeDocument/2006/relationships/slide" Target="/ppt/slides/slide6.xml" Id="R73d587f0132945aa" /><Relationship Type="http://schemas.openxmlformats.org/officeDocument/2006/relationships/slide" Target="/ppt/slides/slide7.xml" Id="R4e591f8cb57a4c24" /><Relationship Type="http://schemas.openxmlformats.org/officeDocument/2006/relationships/slide" Target="/ppt/slides/slide8.xml" Id="R6238e734cd3f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570d8b31b046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92a8e8ce32469e" /><Relationship Type="http://schemas.openxmlformats.org/officeDocument/2006/relationships/notesMaster" Target="/ppt/notesMasters/notesMaster1.xml" Id="R4b691f393b18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474f2fc4ed4cd4" /><Relationship Type="http://schemas.openxmlformats.org/officeDocument/2006/relationships/notesMaster" Target="/ppt/notesMasters/notesMaster1.xml" Id="R28f2950f52e0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f1d67a4f644b7b" /><Relationship Type="http://schemas.openxmlformats.org/officeDocument/2006/relationships/notesMaster" Target="/ppt/notesMasters/notesMaster1.xml" Id="Rd605daf8327a41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94207fcf9349d8" /><Relationship Type="http://schemas.openxmlformats.org/officeDocument/2006/relationships/notesMaster" Target="/ppt/notesMasters/notesMaster1.xml" Id="R213cd599da4e4d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79fefeaf2d4dea" /><Relationship Type="http://schemas.openxmlformats.org/officeDocument/2006/relationships/notesMaster" Target="/ppt/notesMasters/notesMaster1.xml" Id="R823c0cb1b177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770de54fd2474f" /><Relationship Type="http://schemas.openxmlformats.org/officeDocument/2006/relationships/notesMaster" Target="/ppt/notesMasters/notesMaster1.xml" Id="Rd78b45f9688c48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f4c0721b184f1a" /><Relationship Type="http://schemas.openxmlformats.org/officeDocument/2006/relationships/notesMaster" Target="/ppt/notesMasters/notesMaster1.xml" Id="R541647a47f8244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af857eafc34fc2" /><Relationship Type="http://schemas.openxmlformats.org/officeDocument/2006/relationships/notesMaster" Target="/ppt/notesMasters/notesMaster1.xml" Id="Re0fe28a2222e4e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 la fecha antes de presentar.</a:t>
            </a:r>
          </a:p>
          <a:p xmlns:a="http://schemas.openxmlformats.org/drawingml/2006/main">
            <a:r>
              <a:t>Inicia un integrante presentando el equipo, la máquina o conjunto y el propósito de la defensa.</a:t>
            </a:r>
          </a:p>
          <a:p xmlns:a="http://schemas.openxmlformats.org/drawingml/2006/main">
            <a:r>
              <a:t>No lean la lista de integrantes: cada estudiante se identifica al comenzar su intervención.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Reemplacen los textos guía por información del informe entregado.</a:t>
            </a:r>
          </a:p>
          <a:p xmlns:a="http://schemas.openxmlformats.org/drawingml/2006/main">
            <a:r>
              <a:t>Usen una fotografía propia y legible, no una imagen decorativa de internet.</a:t>
            </a:r>
          </a:p>
          <a:p xmlns:a="http://schemas.openxmlformats.org/drawingml/2006/main">
            <a:r>
              <a:t>La explicación debe relacionar función, uso industrial y necesidad de mantenimiento.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Copien el objetivo general aprobado en el informe y reduzcan su extensión para la diapositiva.</a:t>
            </a:r>
          </a:p>
          <a:p xmlns:a="http://schemas.openxmlformats.org/drawingml/2006/main">
            <a:r>
              <a:t>Cada acción específica debe comenzar con un verbo técnico.</a:t>
            </a:r>
          </a:p>
          <a:p xmlns:a="http://schemas.openxmlformats.org/drawingml/2006/main">
            <a:r>
              <a:t>Definan antes del ensayo quién explica cada sección; todos deben intervenir.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Sinteticen el procedimiento: no copien el informe completo.</a:t>
            </a:r>
          </a:p>
          <a:p xmlns:a="http://schemas.openxmlformats.org/drawingml/2006/main">
            <a:r>
              <a:t>Usen verbos precisos: inspeccionar, desmontar, medir, limpiar, lubricar, ajustar, ensamblar.</a:t>
            </a:r>
          </a:p>
          <a:p xmlns:a="http://schemas.openxmlformats.org/drawingml/2006/main">
            <a:r>
              <a:t>Mencionen al menos un riesgo y la medida de control 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Usen fotografías del trabajo real del grupo.</a:t>
            </a:r>
          </a:p>
          <a:p xmlns:a="http://schemas.openxmlformats.org/drawingml/2006/main">
            <a:r>
              <a:t>Recorten la imagen para que el detalle relevante se vea con claridad.</a:t>
            </a:r>
          </a:p>
          <a:p xmlns:a="http://schemas.openxmlformats.org/drawingml/2006/main">
            <a:r>
              <a:t>No describan solo lo visible: relacionen cada foto con el procedimiento o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diagnóstico no puede basarse solo en una opinión.</a:t>
            </a:r>
          </a:p>
          <a:p xmlns:a="http://schemas.openxmlformats.org/drawingml/2006/main">
            <a:r>
              <a:t>Cada hallazgo debe vincularse con una evidencia concreta y una causa técnicamente plausible.</a:t>
            </a:r>
          </a:p>
          <a:p xmlns:a="http://schemas.openxmlformats.org/drawingml/2006/main">
            <a:r>
              <a:t>Si no hubo una falla, expliquen qué condición se comprobó y con qué indicador.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Ordenen las medidas desde la más urgente hasta la preventiva.</a:t>
            </a:r>
          </a:p>
          <a:p xmlns:a="http://schemas.openxmlformats.org/drawingml/2006/main">
            <a:r>
              <a:t>Eviten recomendaciones generales como 'hacer mantenimiento'; indiquen acción, componente y propósito.</a:t>
            </a:r>
          </a:p>
          <a:p xmlns:a="http://schemas.openxmlformats.org/drawingml/2006/main">
            <a:r>
              <a:t>Justifiquen la propuesta con los hallazgos de la diapositiva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Cierren retomando el objetivo general y respondan si se cumplió.</a:t>
            </a:r>
          </a:p>
          <a:p xmlns:a="http://schemas.openxmlformats.org/drawingml/2006/main">
            <a:r>
              <a:t>No terminen con 'eso sería todo': formulen una recomendación concreta.</a:t>
            </a:r>
          </a:p>
          <a:p xmlns:a="http://schemas.openxmlformats.org/drawingml/2006/main">
            <a:r>
              <a:t>Durante las preguntas, quien conozca mejor la evidencia puede iniciar la respuesta y otro integrante puede complementarla.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71bbb6ce240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f17ba8af7d4d3f" /><Relationship Type="http://schemas.openxmlformats.org/officeDocument/2006/relationships/slideLayout" Target="/ppt/slideLayouts/slideLayout1.xml" Id="Rf02d0940d46d4b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2d0940d46d4b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12211edfc40da" /><Relationship Type="http://schemas.openxmlformats.org/officeDocument/2006/relationships/image" Target="/ppt/media/image.bin" Id="R71f34c3d4e494353" /><Relationship Type="http://schemas.openxmlformats.org/officeDocument/2006/relationships/image" Target="/ppt/media/image.png" Id="R866e46d1ab5a48d5" /><Relationship Type="http://schemas.openxmlformats.org/officeDocument/2006/relationships/notesSlide" Target="/ppt/notesSlides/notesSlide1.xml" Id="Re3ea4f4c353d4e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9070146b545e0" /><Relationship Type="http://schemas.openxmlformats.org/officeDocument/2006/relationships/notesSlide" Target="/ppt/notesSlides/notesSlide2.xml" Id="R9ca52607d35c40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ffbf53e0444cc" /><Relationship Type="http://schemas.openxmlformats.org/officeDocument/2006/relationships/notesSlide" Target="/ppt/notesSlides/notesSlide3.xml" Id="R3b62939d163b44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f1ede78ec43f9" /><Relationship Type="http://schemas.openxmlformats.org/officeDocument/2006/relationships/notesSlide" Target="/ppt/notesSlides/notesSlide4.xml" Id="Ra713e052bef54d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a1d4a1f70432a" /><Relationship Type="http://schemas.openxmlformats.org/officeDocument/2006/relationships/notesSlide" Target="/ppt/notesSlides/notesSlide5.xml" Id="R426ee154ee7f43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7a63a94864300" /><Relationship Type="http://schemas.openxmlformats.org/officeDocument/2006/relationships/notesSlide" Target="/ppt/notesSlides/notesSlide6.xml" Id="Rf0fe6fca06aa4e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ee3594447490f" /><Relationship Type="http://schemas.openxmlformats.org/officeDocument/2006/relationships/notesSlide" Target="/ppt/notesSlides/notesSlide7.xml" Id="Re1377582ce7d4b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4f2589e0644b0" /><Relationship Type="http://schemas.openxmlformats.org/officeDocument/2006/relationships/image" Target="/ppt/media/image2.bin" Id="R8fb25f9418874e5d" /><Relationship Type="http://schemas.openxmlformats.org/officeDocument/2006/relationships/notesSlide" Target="/ppt/notesSlides/notesSlide8.xml" Id="R3e79aeb1a0cb47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ld-edge">
            <a:extLst xmlns:a="http://schemas.openxmlformats.org/drawingml/2006/main">
              <a:ext uri="{FF2B5EF4-FFF2-40B4-BE49-F238E27FC236}">
                <a16:creationId xmlns:a16="http://schemas.microsoft.com/office/drawing/2014/main" id="{4AE5BCAE-4C04-41FC-8227-49B72BA6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34c3d4e494353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est-frame">
            <a:extLst xmlns:a="http://schemas.openxmlformats.org/drawingml/2006/main">
              <a:ext uri="{FF2B5EF4-FFF2-40B4-BE49-F238E27FC236}">
                <a16:creationId xmlns:a16="http://schemas.microsoft.com/office/drawing/2014/main" id="{B03A5794-2A74-4B8C-A5CC-42C457C7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104900" cy="1276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e46d1ab5a48d5"/>
          <a:stretch xmlns:a="http://schemas.openxmlformats.org/drawingml/2006/main"/>
        </p:blipFill>
        <p:spPr>
          <a:xfrm xmlns:a="http://schemas.openxmlformats.org/drawingml/2006/main">
            <a:off x="10439400" y="571302"/>
            <a:ext cx="800100" cy="1010046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99F55096-3EFD-40EA-8ADF-773D9D65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DEFENSA TÉCNICA ORAL</a:t>
            </a:r>
          </a:p>
        </p:txBody>
      </p:sp>
      <p:sp>
        <p:nvSpPr>
          <p:cNvPr id="6" name="group-topic">
            <a:extLst xmlns:a="http://schemas.openxmlformats.org/drawingml/2006/main">
              <a:ext uri="{FF2B5EF4-FFF2-40B4-BE49-F238E27FC236}">
                <a16:creationId xmlns:a16="http://schemas.microsoft.com/office/drawing/2014/main" id="{0AC37789-0A89-4FE7-89A7-6754EFCB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C235"/>
                </a:solidFill>
              </a:defRPr>
            </a:pPr>
            <a:r>
              <a:rPr sz="2325" b="1">
                <a:solidFill>
                  <a:srgbClr val="F5C235"/>
                </a:solidFill>
              </a:rPr>
              <a:t>Carro transversal de rectificadora de superficies cilíndricas</a:t>
            </a:r>
          </a:p>
        </p:txBody>
      </p:sp>
      <p:sp>
        <p:nvSpPr>
          <p:cNvPr id="7" name="group-id">
            <a:extLst xmlns:a="http://schemas.openxmlformats.org/drawingml/2006/main">
              <a:ext uri="{FF2B5EF4-FFF2-40B4-BE49-F238E27FC236}">
                <a16:creationId xmlns:a16="http://schemas.microsoft.com/office/drawing/2014/main" id="{2D1B7CA2-D602-4BF4-9895-2F059667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Grupo 4</a:t>
            </a:r>
          </a:p>
        </p:txBody>
      </p:sp>
      <p:sp>
        <p:nvSpPr>
          <p:cNvPr id="8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A463AF74-9DC2-4D45-8CF2-81A469A1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</a:defRPr>
            </a:pPr>
            <a:r>
              <a:rPr sz="1350" b="0">
                <a:solidFill>
                  <a:srgbClr val="DCE6F6"/>
                </a:solidFill>
              </a:rPr>
              <a:t>Franco Díaz Díaz · Franco Fuentes Navarrete · Michaell Amaro Herrera · Cristóbal Cordero Vilches · Brandon Canales Morales · Damián Castro Parra</a:t>
            </a:r>
          </a:p>
        </p:txBody>
      </p:sp>
      <p:sp>
        <p:nvSpPr>
          <p:cNvPr id="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D4DC79BF-46F4-4511-BFCF-B41893D9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Lengua y Literatura / Mecánica Industrial · 2026</a:t>
            </a:r>
          </a:p>
        </p:txBody>
      </p:sp>
    </p:spTree>
    <p:extLst>
      <p:ext uri="{BB962C8B-B14F-4D97-AF65-F5344CB8AC3E}">
        <p14:creationId xmlns:p14="http://schemas.microsoft.com/office/powerpoint/2010/main" val="337270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F8FC2E49-60A8-4DCD-B353-E499433E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01 · CONTEXTO TÉCNICO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A29B161-6098-4098-9815-4D09A07B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conjunto cumple una función necesaria en el sistema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A818CB22-ED92-45A7-B55B-36FB6A2C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machine-photo">
            <a:extLst xmlns:a="http://schemas.openxmlformats.org/drawingml/2006/main">
              <a:ext uri="{FF2B5EF4-FFF2-40B4-BE49-F238E27FC236}">
                <a16:creationId xmlns:a16="http://schemas.microsoft.com/office/drawing/2014/main" id="{3F2A1030-46A2-41C9-8392-D8F5D599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743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machine-photo-label">
            <a:extLst xmlns:a="http://schemas.openxmlformats.org/drawingml/2006/main">
              <a:ext uri="{FF2B5EF4-FFF2-40B4-BE49-F238E27FC236}">
                <a16:creationId xmlns:a16="http://schemas.microsoft.com/office/drawing/2014/main" id="{53E69354-0797-4BE4-9793-25D1FBB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52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REAL DE LA MÁQUINA O CONJUNTO</a:t>
            </a:r>
          </a:p>
        </p:txBody>
      </p:sp>
      <p:sp>
        <p:nvSpPr>
          <p:cNvPr id="6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CF4843F2-FDAC-4FCE-B15F-C5235643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EQUIPO O CONJUNTO</a:t>
            </a:r>
          </a:p>
        </p:txBody>
      </p:sp>
      <p:sp>
        <p:nvSpPr>
          <p:cNvPr id="7" name="equipment">
            <a:extLst xmlns:a="http://schemas.openxmlformats.org/drawingml/2006/main">
              <a:ext uri="{FF2B5EF4-FFF2-40B4-BE49-F238E27FC236}">
                <a16:creationId xmlns:a16="http://schemas.microsoft.com/office/drawing/2014/main" id="{CBB375E5-F9B1-4B65-86FB-E1F05875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Carro transversal de rectificadora de superficies cilíndricas</a:t>
            </a:r>
          </a:p>
        </p:txBody>
      </p:sp>
      <p:sp>
        <p:nvSpPr>
          <p:cNvPr id="8" name="location-function-label">
            <a:extLst xmlns:a="http://schemas.openxmlformats.org/drawingml/2006/main">
              <a:ext uri="{FF2B5EF4-FFF2-40B4-BE49-F238E27FC236}">
                <a16:creationId xmlns:a16="http://schemas.microsoft.com/office/drawing/2014/main" id="{A57DB781-5F1C-46E2-804A-B5100066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UBICACIÓN Y FUNCIÓN</a:t>
            </a:r>
          </a:p>
        </p:txBody>
      </p:sp>
      <p:sp>
        <p:nvSpPr>
          <p:cNvPr id="9" name="location-function">
            <a:extLst xmlns:a="http://schemas.openxmlformats.org/drawingml/2006/main">
              <a:ext uri="{FF2B5EF4-FFF2-40B4-BE49-F238E27FC236}">
                <a16:creationId xmlns:a16="http://schemas.microsoft.com/office/drawing/2014/main" id="{F54119E6-08C2-4B10-B195-4DE260BE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Indiquen dónde se encuentra y qué función cumple dentro del sistema.</a:t>
            </a:r>
          </a:p>
        </p:txBody>
      </p:sp>
      <p:sp>
        <p:nvSpPr>
          <p:cNvPr id="10" name="maintenance-importance-label">
            <a:extLst xmlns:a="http://schemas.openxmlformats.org/drawingml/2006/main">
              <a:ext uri="{FF2B5EF4-FFF2-40B4-BE49-F238E27FC236}">
                <a16:creationId xmlns:a16="http://schemas.microsoft.com/office/drawing/2014/main" id="{A2F54C13-96CB-4A5E-BF9B-6CF98CF6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IMPORTANCIA DEL MANTENIMIENTO</a:t>
            </a:r>
          </a:p>
        </p:txBody>
      </p:sp>
      <p:sp>
        <p:nvSpPr>
          <p:cNvPr id="11" name="maintenance-importance">
            <a:extLst xmlns:a="http://schemas.openxmlformats.org/drawingml/2006/main">
              <a:ext uri="{FF2B5EF4-FFF2-40B4-BE49-F238E27FC236}">
                <a16:creationId xmlns:a16="http://schemas.microsoft.com/office/drawing/2014/main" id="{16EA1363-0C86-4398-AD47-B8C45E05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qué podría ocurrir si el componente trabaja con desgaste, desajuste o lubricación deficiente.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D88C677C-8D2C-489D-A16E-94D3920F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4DD2C3DB-BBE1-4C77-A211-B0C8860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27FDBCB9-7EC0-4381-B1CD-70627AC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4148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99528EA7-06B9-4ECC-B3CC-75171F97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02 · OBJETIVOS Y RESPONSABILIDADES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27C7755-9399-49B1-B8BB-C00719C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intervención tuvo un propósito verificable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F6635F3D-441A-4E86-A1DB-642F47FE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E98EB7DC-2899-41E3-8489-D6520602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E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64D147-3398-4E92-9256-BB075052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OBJETIVO GENERAL</a:t>
            </a:r>
          </a:p>
        </p:txBody>
      </p:sp>
      <p:sp>
        <p:nvSpPr>
          <p:cNvPr id="6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09B7967F-5A22-4319-86AC-41B6F905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Redacten una acción principal que indique qué se inspeccionó, mantuvo o diagnosticó y para qué.</a:t>
            </a:r>
          </a:p>
        </p:txBody>
      </p:sp>
      <p:sp>
        <p:nvSpPr>
          <p:cNvPr id="7" name="action-1">
            <a:extLst xmlns:a="http://schemas.openxmlformats.org/drawingml/2006/main">
              <a:ext uri="{FF2B5EF4-FFF2-40B4-BE49-F238E27FC236}">
                <a16:creationId xmlns:a16="http://schemas.microsoft.com/office/drawing/2014/main" id="{F4DD729F-C513-4AC8-9270-D681882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12CDB9-9877-4DA7-A9A8-FCC02050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AC4585-4F66-4790-AF0D-E1CF28E6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Acción técnica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5E0EA94-8D80-4F78-98DD-A73C56D6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operación concreta realizaron?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E3A42C26-6598-41A5-966D-5CBCB5C4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FD3F8E-3DC5-439B-9CDB-4FFEA07B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3A1B185-8943-4FA1-8E8F-D51ECB29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Control y evidencia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7CDCFAD-F1F1-4CF1-BFE3-3DAE0B1A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midieron, observaron o registraron?</a:t>
            </a:r>
          </a:p>
        </p:txBody>
      </p:sp>
      <p:sp>
        <p:nvSpPr>
          <p:cNvPr id="15" name="action-3">
            <a:extLst xmlns:a="http://schemas.openxmlformats.org/drawingml/2006/main">
              <a:ext uri="{FF2B5EF4-FFF2-40B4-BE49-F238E27FC236}">
                <a16:creationId xmlns:a16="http://schemas.microsoft.com/office/drawing/2014/main" id="{12DEA3A1-3383-40A0-98D5-80A98528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A4E5B7-AB86-430A-AC11-B8D02AE7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092BCF2-4631-4D18-A852-A3E7C20E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Resultado esperado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23B84B2-E0C2-49B6-B6A1-9B1D3CA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condición buscaban recuperar o comprobar?</a:t>
            </a:r>
          </a:p>
        </p:txBody>
      </p:sp>
      <p:sp>
        <p:nvSpPr>
          <p:cNvPr id="19" name="participation-note">
            <a:extLst xmlns:a="http://schemas.openxmlformats.org/drawingml/2006/main">
              <a:ext uri="{FF2B5EF4-FFF2-40B4-BE49-F238E27FC236}">
                <a16:creationId xmlns:a16="http://schemas.microsoft.com/office/drawing/2014/main" id="{1ACBE868-4BFF-4A34-AE09-6CF3911B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25C"/>
                </a:solidFill>
              </a:defRPr>
            </a:pPr>
            <a:r>
              <a:rPr sz="1350" b="1">
                <a:solidFill>
                  <a:srgbClr val="17825C"/>
                </a:solidFill>
              </a:rPr>
              <a:t>Distribución oral: asignen a cada integrante una sección que pueda explicar y defender.</a:t>
            </a:r>
          </a:p>
        </p:txBody>
      </p: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C73463AC-D0E3-4F79-A6BA-C010D225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1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734C5E47-881F-4535-A342-D6B18202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860C0639-97C0-4F4B-858C-FF91010D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9728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573F2E04-56C5-4DEC-8662-F755876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03 · PROCEDIMIENTO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DD6BE27-B9A8-44CF-8A63-3C997F22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procedimiento siguió una secuencia segura y controlada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0D84E35A-0F59-40A7-A54B-5F4CE3A2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E1E93928-3E2D-4DB4-88AE-7FCE97F2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AE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B30F91-5F09-4745-8E4D-E44379B9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827AB5-F15F-4613-9A4C-20C087F8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Inspección inicial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CBF893-6EEB-4CE7-8F99-B5B362F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Estado, riesgos y EPP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5A5C43-D201-4A02-A533-25695BEB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8AFE4739-C745-47AD-848A-A9CAC5C8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3899F9-F9AD-405A-B96C-0E12C75E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9CE574-30C7-48C5-BD0A-9207A706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Desarme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BE6C81-2661-4992-ACC1-0E3E6D8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Orden, herramientas y piezas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EF1F45-23C7-4677-B86D-0A73333F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5316A169-473C-4712-8CD1-355434B1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6B804C1-7A43-42E7-AD60-2E833AA0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43CFF0E-5D75-465A-992A-0B53835E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Limpieza y medición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183F655-E2A4-4C8B-83AE-DF4E7103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Evidencia y tolerancias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D37471E-F5DE-4B38-B8F6-1E8E3F5C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751A8C45-F9B5-44FE-9BC0-DE57C161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12C8B62-1E80-42EE-A3CA-A0BDC8E2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887948C-D1FC-436C-85E1-AB03DDD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Reensamble y control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0D3E5D3-5FAA-4E00-A89B-207F0DAA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Ajuste y comprobación</a:t>
            </a:r>
          </a:p>
        </p:txBody>
      </p:sp>
      <p:sp>
        <p:nvSpPr>
          <p:cNvPr id="23" name="procedure-photo">
            <a:extLst xmlns:a="http://schemas.openxmlformats.org/drawingml/2006/main">
              <a:ext uri="{FF2B5EF4-FFF2-40B4-BE49-F238E27FC236}">
                <a16:creationId xmlns:a16="http://schemas.microsoft.com/office/drawing/2014/main" id="{FA5C6C10-F53C-4252-9C29-32E45799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76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procedure-photo-label">
            <a:extLst xmlns:a="http://schemas.openxmlformats.org/drawingml/2006/main">
              <a:ext uri="{FF2B5EF4-FFF2-40B4-BE49-F238E27FC236}">
                <a16:creationId xmlns:a16="http://schemas.microsoft.com/office/drawing/2014/main" id="{DF492A21-1F8D-41FD-8D2D-0D1B7AC8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DEL PROCEDIMIENTO MÁS RELEVANTE</a:t>
            </a:r>
          </a:p>
        </p:txBody>
      </p:sp>
      <p:sp>
        <p:nvSpPr>
          <p:cNvPr id="25" name="technical-decision-label">
            <a:extLst xmlns:a="http://schemas.openxmlformats.org/drawingml/2006/main">
              <a:ext uri="{FF2B5EF4-FFF2-40B4-BE49-F238E27FC236}">
                <a16:creationId xmlns:a16="http://schemas.microsoft.com/office/drawing/2014/main" id="{D1FAD065-91CE-4FC8-93C3-1EA7EC62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563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DECISIÓN TÉCNICA CLAVE</a:t>
            </a:r>
          </a:p>
        </p:txBody>
      </p:sp>
      <p:sp>
        <p:nvSpPr>
          <p:cNvPr id="26" name="technical-decision">
            <a:extLst xmlns:a="http://schemas.openxmlformats.org/drawingml/2006/main">
              <a:ext uri="{FF2B5EF4-FFF2-40B4-BE49-F238E27FC236}">
                <a16:creationId xmlns:a16="http://schemas.microsoft.com/office/drawing/2014/main" id="{2A7D26AC-AA27-4957-815E-FCF77D31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563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una decisión tomada durante el procedimiento y qué evidencia la justificó.</a:t>
            </a:r>
          </a:p>
        </p:txBody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CEE53718-36DC-4E69-A521-96B441DC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8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CA21BBC1-5FF2-425B-ADBF-16DDD19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A54A5013-AC26-484C-8D12-DE0136B1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9175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CD3E6A9B-2380-4077-B917-5BBC50B9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04 · BANCO VISUAL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E13DA0C-37F2-466C-83FD-D22933ED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evidencia permite sostener el diagnóstico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C138B8E2-30CC-4933-9EEB-6EA600C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evidence-photo-1">
            <a:extLst xmlns:a="http://schemas.openxmlformats.org/drawingml/2006/main">
              <a:ext uri="{FF2B5EF4-FFF2-40B4-BE49-F238E27FC236}">
                <a16:creationId xmlns:a16="http://schemas.microsoft.com/office/drawing/2014/main" id="{CE0D58CC-3F73-4FD2-A4D1-845FD070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evidence-photo-1-label">
            <a:extLst xmlns:a="http://schemas.openxmlformats.org/drawingml/2006/main">
              <a:ext uri="{FF2B5EF4-FFF2-40B4-BE49-F238E27FC236}">
                <a16:creationId xmlns:a16="http://schemas.microsoft.com/office/drawing/2014/main" id="{323A708D-EA9E-47A6-8C19-F79EF382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1 · VISTA GENERAL</a:t>
            </a:r>
          </a:p>
        </p:txBody>
      </p:sp>
      <p:sp>
        <p:nvSpPr>
          <p:cNvPr id="6" name="caption-1">
            <a:extLst xmlns:a="http://schemas.openxmlformats.org/drawingml/2006/main">
              <a:ext uri="{FF2B5EF4-FFF2-40B4-BE49-F238E27FC236}">
                <a16:creationId xmlns:a16="http://schemas.microsoft.com/office/drawing/2014/main" id="{B554BBE0-9BDC-48FA-A6AF-A91CFFBE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parte del sistema permite ubicar?</a:t>
            </a:r>
          </a:p>
        </p:txBody>
      </p:sp>
      <p:sp>
        <p:nvSpPr>
          <p:cNvPr id="7" name="evidence-photo-2">
            <a:extLst xmlns:a="http://schemas.openxmlformats.org/drawingml/2006/main">
              <a:ext uri="{FF2B5EF4-FFF2-40B4-BE49-F238E27FC236}">
                <a16:creationId xmlns:a16="http://schemas.microsoft.com/office/drawing/2014/main" id="{35AAD54D-A241-419F-95E4-106260BE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evidence-photo-2-label">
            <a:extLst xmlns:a="http://schemas.openxmlformats.org/drawingml/2006/main">
              <a:ext uri="{FF2B5EF4-FFF2-40B4-BE49-F238E27FC236}">
                <a16:creationId xmlns:a16="http://schemas.microsoft.com/office/drawing/2014/main" id="{F8025C16-62C4-424D-A3A6-B1BAE48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2 · COMPONENTE</a:t>
            </a:r>
          </a:p>
        </p:txBody>
      </p:sp>
      <p:sp>
        <p:nvSpPr>
          <p:cNvPr id="9" name="caption-2">
            <a:extLst xmlns:a="http://schemas.openxmlformats.org/drawingml/2006/main">
              <a:ext uri="{FF2B5EF4-FFF2-40B4-BE49-F238E27FC236}">
                <a16:creationId xmlns:a16="http://schemas.microsoft.com/office/drawing/2014/main" id="{CA055BA6-3ACE-4EA4-9465-6A6A3DDA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detalle técnico muestra?</a:t>
            </a:r>
          </a:p>
        </p:txBody>
      </p:sp>
      <p:sp>
        <p:nvSpPr>
          <p:cNvPr id="10" name="evidence-photo-3">
            <a:extLst xmlns:a="http://schemas.openxmlformats.org/drawingml/2006/main">
              <a:ext uri="{FF2B5EF4-FFF2-40B4-BE49-F238E27FC236}">
                <a16:creationId xmlns:a16="http://schemas.microsoft.com/office/drawing/2014/main" id="{9E7C41D1-A9B3-476B-99D1-4E59200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evidence-photo-3-label">
            <a:extLst xmlns:a="http://schemas.openxmlformats.org/drawingml/2006/main">
              <a:ext uri="{FF2B5EF4-FFF2-40B4-BE49-F238E27FC236}">
                <a16:creationId xmlns:a16="http://schemas.microsoft.com/office/drawing/2014/main" id="{40991B60-19B3-45B8-A68A-251D56BE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3 · HALLAZGO</a:t>
            </a:r>
          </a:p>
        </p:txBody>
      </p:sp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53E77A3A-BE3D-47F4-9A4C-79EC53E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desgaste, daño o condición evidencia?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6B76D2C9-0A0B-409F-80F2-4541DD77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4" name="evidence-instruction">
            <a:extLst xmlns:a="http://schemas.openxmlformats.org/drawingml/2006/main">
              <a:ext uri="{FF2B5EF4-FFF2-40B4-BE49-F238E27FC236}">
                <a16:creationId xmlns:a16="http://schemas.microsoft.com/office/drawing/2014/main" id="{9400EC94-1D4B-4340-9A68-F7D41C06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5414"/>
                </a:solidFill>
              </a:defRPr>
            </a:pPr>
            <a:r>
              <a:rPr sz="1350" b="1">
                <a:solidFill>
                  <a:srgbClr val="705414"/>
                </a:solidFill>
              </a:rPr>
              <a:t>Cada imagen debe tener una explicación oral: qué muestra, por qué importa y qué conclusión permite sostener.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311C0EFB-04C8-4456-B608-CCA85FB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3DF350A9-2C70-4628-A505-C3050D7C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A4D6C0E2-0C14-4DF7-8E6A-B3FC1C4D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6838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6">
            <a:extLst xmlns:a="http://schemas.openxmlformats.org/drawingml/2006/main">
              <a:ext uri="{FF2B5EF4-FFF2-40B4-BE49-F238E27FC236}">
                <a16:creationId xmlns:a16="http://schemas.microsoft.com/office/drawing/2014/main" id="{0F3EF330-904B-4D87-B3F8-18C8B37E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05 · RESULTADOS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26E8D7F-A138-4C17-8A34-EEE2E369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diagnóstico conecta hallazgo, causa y consecuencia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6A8BCF87-CF04-40CA-B5B1-868EE95D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head-HALLAZGO">
            <a:extLst xmlns:a="http://schemas.openxmlformats.org/drawingml/2006/main">
              <a:ext uri="{FF2B5EF4-FFF2-40B4-BE49-F238E27FC236}">
                <a16:creationId xmlns:a16="http://schemas.microsoft.com/office/drawing/2014/main" id="{4576E1ED-A96B-41D0-84FB-A546359A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B6A15E7-00C2-48E4-A1B6-6E53825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HALLAZGO</a:t>
            </a:r>
          </a:p>
        </p:txBody>
      </p:sp>
      <p:sp>
        <p:nvSpPr>
          <p:cNvPr id="6" name="head-EVIDENCIA">
            <a:extLst xmlns:a="http://schemas.openxmlformats.org/drawingml/2006/main">
              <a:ext uri="{FF2B5EF4-FFF2-40B4-BE49-F238E27FC236}">
                <a16:creationId xmlns:a16="http://schemas.microsoft.com/office/drawing/2014/main" id="{B7121C73-1427-446F-B29E-4965CBE6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2AA75AE-2DDE-4D07-9EFF-D3C9CCE4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8" name="head-CAUSA PROBABLE">
            <a:extLst xmlns:a="http://schemas.openxmlformats.org/drawingml/2006/main">
              <a:ext uri="{FF2B5EF4-FFF2-40B4-BE49-F238E27FC236}">
                <a16:creationId xmlns:a16="http://schemas.microsoft.com/office/drawing/2014/main" id="{EF982AF1-EB68-445B-BB3E-9CF6CB6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33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38D3E0-4B30-44F8-A9D8-3914B91D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CAUSA PROBABLE</a:t>
            </a:r>
          </a:p>
        </p:txBody>
      </p:sp>
      <p:sp>
        <p:nvSpPr>
          <p:cNvPr id="10" name="head-RIESGO O EFECTO">
            <a:extLst xmlns:a="http://schemas.openxmlformats.org/drawingml/2006/main">
              <a:ext uri="{FF2B5EF4-FFF2-40B4-BE49-F238E27FC236}">
                <a16:creationId xmlns:a16="http://schemas.microsoft.com/office/drawing/2014/main" id="{1A475639-3CCE-4730-9317-228C7F04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8336825-D514-4EE7-8AC8-7CE7F2EC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RIESGO O EFECTO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0FD168A6-75E1-412B-86C8-9F2A07BF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220A2AD-2B3D-49C9-80AE-E4728B3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Condición observada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6B4C7585-B168-40C1-A976-876442E0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A6077A-1B61-4697-9576-50120483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Foto, medición o prueba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30AC48C0-1A5A-42E2-85A3-8EE91A8B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D431C3C-5DD5-48DC-B64C-5B9D7101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Explicación técnica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8F658705-CEC4-4AFE-AE2A-F160BC89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7EB866F-0825-4E79-97AC-BD24369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Efecto en operación o seguridad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E9F08E9A-F517-4CA8-9355-A2831452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3097A46-5E47-4277-A511-201DB930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4137E3CE-A86F-4D8D-844D-1CF1B604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366D256-0EC8-46DE-A561-75D59853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772A869C-3A6D-457E-88D1-54968306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81C0D35-4761-4425-9C79-83CDDECD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C0F6C4FC-6B12-4F92-BB83-A10D8D6C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6AB678D-D0A8-45C9-8BD1-A21EF2ED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D541B265-54DB-4746-B48E-D15AB33B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5D59199-81CE-4FDF-9F6B-43DA951D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F9C51C48-EC31-44C1-89A0-490BC61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0BB004D-7A93-4E28-8B82-FA83378A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B5E3407A-C412-4690-9E51-E9A56DB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F276BF3-FD67-4996-BAE6-4609E5C0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8924891D-FDA1-479E-9DE4-4E2B23D2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C0C26E09-91B6-4716-AFE9-0F1271CB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6" name="diagnostic-conclusion">
            <a:extLst xmlns:a="http://schemas.openxmlformats.org/drawingml/2006/main">
              <a:ext uri="{FF2B5EF4-FFF2-40B4-BE49-F238E27FC236}">
                <a16:creationId xmlns:a16="http://schemas.microsoft.com/office/drawing/2014/main" id="{986F91A3-F9D0-40F3-AD17-E454F106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25C"/>
                </a:solidFill>
              </a:defRPr>
            </a:pPr>
            <a:r>
              <a:rPr sz="1425" b="1">
                <a:solidFill>
                  <a:srgbClr val="17825C"/>
                </a:solidFill>
              </a:rPr>
              <a:t>Conclusión diagnóstica: formulen una afirmación respaldada por los datos anteriores.</a:t>
            </a:r>
          </a:p>
        </p:txBody>
      </p:sp>
      <p:sp>
        <p:nvSpPr>
          <p:cNvPr id="37" name="footer-6">
            <a:extLst xmlns:a="http://schemas.openxmlformats.org/drawingml/2006/main">
              <a:ext uri="{FF2B5EF4-FFF2-40B4-BE49-F238E27FC236}">
                <a16:creationId xmlns:a16="http://schemas.microsoft.com/office/drawing/2014/main" id="{5708EE37-183A-4E25-85CC-29689833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38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B983FDAE-A60A-46BB-8973-B454F6C4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39" name="page-6">
            <a:extLst xmlns:a="http://schemas.openxmlformats.org/drawingml/2006/main">
              <a:ext uri="{FF2B5EF4-FFF2-40B4-BE49-F238E27FC236}">
                <a16:creationId xmlns:a16="http://schemas.microsoft.com/office/drawing/2014/main" id="{C265B719-687C-422A-A84C-182E1BBA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9614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7548E9CE-CF78-4B9E-A509-B062B436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06 · PLAN DE ACCIÓN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B1F62EE-BD21-48F9-AC6F-90AA8FAF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propuesta transforma el diagnóstico en mantenimiento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E32E8B98-8022-4727-9317-29CDD74C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plan-1">
            <a:extLst xmlns:a="http://schemas.openxmlformats.org/drawingml/2006/main">
              <a:ext uri="{FF2B5EF4-FFF2-40B4-BE49-F238E27FC236}">
                <a16:creationId xmlns:a16="http://schemas.microsoft.com/office/drawing/2014/main" id="{BA82AADD-5282-464A-826F-476E36D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plan-accent-1">
            <a:extLst xmlns:a="http://schemas.openxmlformats.org/drawingml/2006/main">
              <a:ext uri="{FF2B5EF4-FFF2-40B4-BE49-F238E27FC236}">
                <a16:creationId xmlns:a16="http://schemas.microsoft.com/office/drawing/2014/main" id="{7F1AB308-F9B2-402A-8E4F-A3722B6C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9525">
            <a:solidFill>
              <a:srgbClr val="0B5ED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A84FD0-038E-45B6-95E0-4050523D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Acción inmediata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B34092-3552-4369-8F85-34F1B40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se debe limpiar, ajustar, reemplazar, lubricar o comprobar?</a:t>
            </a:r>
          </a:p>
        </p:txBody>
      </p:sp>
      <p:sp>
        <p:nvSpPr>
          <p:cNvPr id="8" name="plan-2">
            <a:extLst xmlns:a="http://schemas.openxmlformats.org/drawingml/2006/main">
              <a:ext uri="{FF2B5EF4-FFF2-40B4-BE49-F238E27FC236}">
                <a16:creationId xmlns:a16="http://schemas.microsoft.com/office/drawing/2014/main" id="{48D35224-828F-4832-9BD9-9C9D4648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plan-accent-2">
            <a:extLst xmlns:a="http://schemas.openxmlformats.org/drawingml/2006/main">
              <a:ext uri="{FF2B5EF4-FFF2-40B4-BE49-F238E27FC236}">
                <a16:creationId xmlns:a16="http://schemas.microsoft.com/office/drawing/2014/main" id="{218F00AB-3394-436C-A963-E687CA0F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25C"/>
          </a:solidFill>
          <a:ln xmlns:a="http://schemas.openxmlformats.org/drawingml/2006/main" w="9525">
            <a:solidFill>
              <a:srgbClr val="17825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24EF05-E020-42D1-B814-5A5DA37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Prevención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B1E2E71-1E18-4874-B026-8E8524FA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tarea periódica evitaría que el problema reaparezca?</a:t>
            </a:r>
          </a:p>
        </p:txBody>
      </p:sp>
      <p:sp>
        <p:nvSpPr>
          <p:cNvPr id="12" name="plan-3">
            <a:extLst xmlns:a="http://schemas.openxmlformats.org/drawingml/2006/main">
              <a:ext uri="{FF2B5EF4-FFF2-40B4-BE49-F238E27FC236}">
                <a16:creationId xmlns:a16="http://schemas.microsoft.com/office/drawing/2014/main" id="{76BE3633-54DA-4FCE-A815-8B99BB5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plan-accent-3">
            <a:extLst xmlns:a="http://schemas.openxmlformats.org/drawingml/2006/main">
              <a:ext uri="{FF2B5EF4-FFF2-40B4-BE49-F238E27FC236}">
                <a16:creationId xmlns:a16="http://schemas.microsoft.com/office/drawing/2014/main" id="{A1BC5C2C-DADC-4C51-A4D9-9155D90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401CE0C-39DE-4517-AD92-A165B554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Seguridad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A1ED6A-EDC2-4678-8CDE-04E02060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riesgo, EPP y control deben considerarse?</a:t>
            </a:r>
          </a:p>
        </p:txBody>
      </p:sp>
      <p:sp>
        <p:nvSpPr>
          <p:cNvPr id="16" name="feasibility">
            <a:extLst xmlns:a="http://schemas.openxmlformats.org/drawingml/2006/main">
              <a:ext uri="{FF2B5EF4-FFF2-40B4-BE49-F238E27FC236}">
                <a16:creationId xmlns:a16="http://schemas.microsoft.com/office/drawing/2014/main" id="{AAC1A7F3-73F4-4D3E-B6B5-EB7E5721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38D1A3-F834-43E0-BB0B-0971B17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414"/>
                </a:solidFill>
              </a:defRPr>
            </a:pPr>
            <a:r>
              <a:rPr sz="1275" b="1">
                <a:solidFill>
                  <a:srgbClr val="705414"/>
                </a:solidFill>
              </a:rPr>
              <a:t>La recomendación debe ser viable para el taller y coherente con la evidencia presentada.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F85993E7-148D-4A11-8DF1-3D5D41E3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9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DABAB6B7-A9DE-4D80-8D1F-6E2D5CE8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0A5875AA-6093-403D-B021-979F2CE6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4221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09F4102-0A02-45F7-95BD-4C6AC00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intervención permite concluir y decidir</a:t>
            </a:r>
          </a:p>
        </p:txBody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6C290EEA-7858-4495-9BF0-3951A812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447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3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8853BA94-5873-4A7C-BF54-FEEF898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A0C737-EAAA-4438-B8BC-CA545EF3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1 · Qué condición técnica comprobaron.</a:t>
            </a:r>
          </a:p>
        </p:txBody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6372E5E8-32A6-4497-B39B-2592E589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CC4A76-8B87-4D7F-B3DD-4BBC550B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 · Qué evidencia fue decisiva para el diagnóstico.</a:t>
            </a:r>
          </a:p>
        </p:txBody>
      </p:sp>
      <p:sp>
        <p:nvSpPr>
          <p:cNvPr id="7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E623361A-CF72-46FC-9D47-2551D2C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57C020-DFF7-461B-A08F-7E88044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 · Qué acción recomiendan y por qué.</a:t>
            </a:r>
          </a:p>
        </p:txBody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AAC44DE0-6D07-413C-8A97-01936C97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25f9418874e5d"/>
          <a:stretch xmlns:a="http://schemas.openxmlformats.org/drawingml/2006/main"/>
        </p:blipFill>
        <p:spPr>
          <a:xfrm xmlns:a="http://schemas.openxmlformats.org/drawingml/2006/main">
            <a:off x="9315450" y="20383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AA04FF-3B95-452C-900A-84D5A062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D3F"/>
                </a:solidFill>
              </a:defRPr>
            </a:pPr>
            <a:r>
              <a:rPr sz="2400" b="1">
                <a:solidFill>
                  <a:srgbClr val="111D3F"/>
                </a:solidFill>
              </a:rPr>
              <a:t>Preguntas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DB191B-B1A7-4BF9-8E29-76194B8F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El equipo responde utilizando evidencia del informe y del trabajo realizado.</a:t>
            </a:r>
          </a:p>
        </p:txBody>
      </p:sp>
      <p:sp>
        <p:nvSpPr>
          <p:cNvPr id="13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C098E936-9BD9-4F12-86DC-795EB24B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C235"/>
                </a:solidFill>
              </a:defRPr>
            </a:pPr>
            <a:r>
              <a:rPr sz="1575" b="1">
                <a:solidFill>
                  <a:srgbClr val="F5C235"/>
                </a:solidFill>
              </a:rPr>
              <a:t>Defiendan las decisiones técnicas; no repitan de memoria.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10F4FA-A03F-478B-B04F-93AC509D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2026</a:t>
            </a:r>
          </a:p>
        </p:txBody>
      </p:sp>
    </p:spTree>
    <p:extLst>
      <p:ext uri="{BB962C8B-B14F-4D97-AF65-F5344CB8AC3E}">
        <p14:creationId xmlns:p14="http://schemas.microsoft.com/office/powerpoint/2010/main" val="1934984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2026-07-24T12:43:40.6290000Z</dcterms:created>
  <dcterms:modified xsi:type="dcterms:W3CDTF">2026-07-24T12:43:40.6290000Z</dcterms:modified>
</coreProperties>
</file>