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1bff9f58d54fab" /><Relationship Type="http://schemas.openxmlformats.org/officeDocument/2006/relationships/extended-properties" Target="/docProps/app.xml" Id="Rc9f384384bde416b" /><Relationship Type="http://schemas.openxmlformats.org/officeDocument/2006/relationships/officeDocument" Target="/ppt/presentation.xml" Id="R615b78242a1046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9ec120a2854cc5"/>
  </p:sldMasterIdLst>
  <p:notesMasterIdLst>
    <p:notesMasterId xmlns:r="http://schemas.openxmlformats.org/officeDocument/2006/relationships" r:id="Rbd60c1c4cbaf4c63"/>
  </p:notesMasterIdLst>
  <p:sldIdLst>
    <p:sldId xmlns:r="http://schemas.openxmlformats.org/officeDocument/2006/relationships" id="256" r:id="R86533402a9614612"/>
    <p:sldId xmlns:r="http://schemas.openxmlformats.org/officeDocument/2006/relationships" id="257" r:id="R7e9f22626e5348df"/>
    <p:sldId xmlns:r="http://schemas.openxmlformats.org/officeDocument/2006/relationships" id="258" r:id="R740dbfe5bcd24924"/>
    <p:sldId xmlns:r="http://schemas.openxmlformats.org/officeDocument/2006/relationships" id="259" r:id="Rbccf5fa24034458f"/>
    <p:sldId xmlns:r="http://schemas.openxmlformats.org/officeDocument/2006/relationships" id="260" r:id="R008df7b98a564683"/>
    <p:sldId xmlns:r="http://schemas.openxmlformats.org/officeDocument/2006/relationships" id="261" r:id="Raf8bfa1e447c4322"/>
    <p:sldId xmlns:r="http://schemas.openxmlformats.org/officeDocument/2006/relationships" id="262" r:id="Rf1a5f36e2fff467b"/>
    <p:sldId xmlns:r="http://schemas.openxmlformats.org/officeDocument/2006/relationships" id="263" r:id="R45748b6d5f4a407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0f81a77ce049f7" /><Relationship Type="http://schemas.openxmlformats.org/officeDocument/2006/relationships/slideMaster" Target="/ppt/slideMasters/slideMaster1.xml" Id="R309ec120a2854cc5" /><Relationship Type="http://schemas.openxmlformats.org/officeDocument/2006/relationships/notesMaster" Target="/ppt/notesMasters/notesMaster1.xml" Id="Rbd60c1c4cbaf4c63" /><Relationship Type="http://schemas.openxmlformats.org/officeDocument/2006/relationships/presProps" Target="/ppt/presProps.xml" Id="R4435e638e13c403a" /><Relationship Type="http://schemas.openxmlformats.org/officeDocument/2006/relationships/tableStyles" Target="/ppt/tableStyles.xml" Id="Rd8f5acae9f254294" /><Relationship Type="http://schemas.openxmlformats.org/officeDocument/2006/relationships/slide" Target="/ppt/slides/slide1.xml" Id="R86533402a9614612" /><Relationship Type="http://schemas.openxmlformats.org/officeDocument/2006/relationships/slide" Target="/ppt/slides/slide2.xml" Id="R7e9f22626e5348df" /><Relationship Type="http://schemas.openxmlformats.org/officeDocument/2006/relationships/slide" Target="/ppt/slides/slide3.xml" Id="R740dbfe5bcd24924" /><Relationship Type="http://schemas.openxmlformats.org/officeDocument/2006/relationships/slide" Target="/ppt/slides/slide4.xml" Id="Rbccf5fa24034458f" /><Relationship Type="http://schemas.openxmlformats.org/officeDocument/2006/relationships/slide" Target="/ppt/slides/slide5.xml" Id="R008df7b98a564683" /><Relationship Type="http://schemas.openxmlformats.org/officeDocument/2006/relationships/slide" Target="/ppt/slides/slide6.xml" Id="Raf8bfa1e447c4322" /><Relationship Type="http://schemas.openxmlformats.org/officeDocument/2006/relationships/slide" Target="/ppt/slides/slide7.xml" Id="Rf1a5f36e2fff467b" /><Relationship Type="http://schemas.openxmlformats.org/officeDocument/2006/relationships/slide" Target="/ppt/slides/slide8.xml" Id="R45748b6d5f4a40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34d4383f8443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495517394b4788" /><Relationship Type="http://schemas.openxmlformats.org/officeDocument/2006/relationships/notesMaster" Target="/ppt/notesMasters/notesMaster1.xml" Id="R2d235adbc03d4a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6acd3be96b4105" /><Relationship Type="http://schemas.openxmlformats.org/officeDocument/2006/relationships/notesMaster" Target="/ppt/notesMasters/notesMaster1.xml" Id="R77da94f2e03b46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e79e02e5d94c07" /><Relationship Type="http://schemas.openxmlformats.org/officeDocument/2006/relationships/notesMaster" Target="/ppt/notesMasters/notesMaster1.xml" Id="R0dd7e1dc1f2741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775d8cc7eb48ed" /><Relationship Type="http://schemas.openxmlformats.org/officeDocument/2006/relationships/notesMaster" Target="/ppt/notesMasters/notesMaster1.xml" Id="R6a004f3bc1244b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92b064573f471a" /><Relationship Type="http://schemas.openxmlformats.org/officeDocument/2006/relationships/notesMaster" Target="/ppt/notesMasters/notesMaster1.xml" Id="R15e1c7ec969e48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615e6095c34a18" /><Relationship Type="http://schemas.openxmlformats.org/officeDocument/2006/relationships/notesMaster" Target="/ppt/notesMasters/notesMaster1.xml" Id="Rc674b37c988843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e7ca6fc82a4dea" /><Relationship Type="http://schemas.openxmlformats.org/officeDocument/2006/relationships/notesMaster" Target="/ppt/notesMasters/notesMaster1.xml" Id="R060c02099f1149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92d08f9398496c" /><Relationship Type="http://schemas.openxmlformats.org/officeDocument/2006/relationships/notesMaster" Target="/ppt/notesMasters/notesMaster1.xml" Id="Re09a99dbb42b4f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Completen la fecha antes de presentar.</a:t>
            </a:r>
          </a:p>
          <a:p xmlns:a="http://schemas.openxmlformats.org/drawingml/2006/main">
            <a:r>
              <a:t>Inicia un integrante presentando el equipo, la máquina o conjunto y el propósito de la defensa.</a:t>
            </a:r>
          </a:p>
          <a:p xmlns:a="http://schemas.openxmlformats.org/drawingml/2006/main">
            <a:r>
              <a:t>No lean la lista de integrantes: cada estudiante se identifica al comenzar su intervención.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Reemplacen los textos guía por información del informe entregado.</a:t>
            </a:r>
          </a:p>
          <a:p xmlns:a="http://schemas.openxmlformats.org/drawingml/2006/main">
            <a:r>
              <a:t>Usen una fotografía propia y legible, no una imagen decorativa de internet.</a:t>
            </a:r>
          </a:p>
          <a:p xmlns:a="http://schemas.openxmlformats.org/drawingml/2006/main">
            <a:r>
              <a:t>La explicación debe relacionar función, uso industrial y necesidad de mantenimiento.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Copien el objetivo general aprobado en el informe y reduzcan su extensión para la diapositiva.</a:t>
            </a:r>
          </a:p>
          <a:p xmlns:a="http://schemas.openxmlformats.org/drawingml/2006/main">
            <a:r>
              <a:t>Cada acción específica debe comenzar con un verbo técnico.</a:t>
            </a:r>
          </a:p>
          <a:p xmlns:a="http://schemas.openxmlformats.org/drawingml/2006/main">
            <a:r>
              <a:t>Definan antes del ensayo quién explica cada sección; todos deben intervenir.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Sinteticen el procedimiento: no copien el informe completo.</a:t>
            </a:r>
          </a:p>
          <a:p xmlns:a="http://schemas.openxmlformats.org/drawingml/2006/main">
            <a:r>
              <a:t>Usen verbos precisos: inspeccionar, desmontar, medir, limpiar, lubricar, ajustar, ensamblar.</a:t>
            </a:r>
          </a:p>
          <a:p xmlns:a="http://schemas.openxmlformats.org/drawingml/2006/main">
            <a:r>
              <a:t>Mencionen al menos un riesgo y la medida de control aplicada.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Usen fotografías del trabajo real del grupo.</a:t>
            </a:r>
          </a:p>
          <a:p xmlns:a="http://schemas.openxmlformats.org/drawingml/2006/main">
            <a:r>
              <a:t>Recorten la imagen para que el detalle relevante se vea con claridad.</a:t>
            </a:r>
          </a:p>
          <a:p xmlns:a="http://schemas.openxmlformats.org/drawingml/2006/main">
            <a:r>
              <a:t>No describan solo lo visible: relacionen cada foto con el procedimiento o diagnóstico.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diagnóstico no puede basarse solo en una opinión.</a:t>
            </a:r>
          </a:p>
          <a:p xmlns:a="http://schemas.openxmlformats.org/drawingml/2006/main">
            <a:r>
              <a:t>Cada hallazgo debe vincularse con una evidencia concreta y una causa técnicamente plausible.</a:t>
            </a:r>
          </a:p>
          <a:p xmlns:a="http://schemas.openxmlformats.org/drawingml/2006/main">
            <a:r>
              <a:t>Si no hubo una falla, expliquen qué condición se comprobó y con qué indicador.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Ordenen las medidas desde la más urgente hasta la preventiva.</a:t>
            </a:r>
          </a:p>
          <a:p xmlns:a="http://schemas.openxmlformats.org/drawingml/2006/main">
            <a:r>
              <a:t>Eviten recomendaciones generales como 'hacer mantenimiento'; indiquen acción, componente y propósito.</a:t>
            </a:r>
          </a:p>
          <a:p xmlns:a="http://schemas.openxmlformats.org/drawingml/2006/main">
            <a:r>
              <a:t>Justifiquen la propuesta con los hallazgos de la diapositiva anterior.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Cierren retomando el objetivo general y respondan si se cumplió.</a:t>
            </a:r>
          </a:p>
          <a:p xmlns:a="http://schemas.openxmlformats.org/drawingml/2006/main">
            <a:r>
              <a:t>No terminen con 'eso sería todo': formulen una recomendación concreta.</a:t>
            </a:r>
          </a:p>
          <a:p xmlns:a="http://schemas.openxmlformats.org/drawingml/2006/main">
            <a:r>
              <a:t>Durante las preguntas, quien conozca mejor la evidencia puede iniciar la respuesta y otro integrante puede complementarla.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2327123e0141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31f446675f4500" /><Relationship Type="http://schemas.openxmlformats.org/officeDocument/2006/relationships/slideLayout" Target="/ppt/slideLayouts/slideLayout1.xml" Id="Re3ccfbd418da4c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ccfbd418da4c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a3b8546c443de" /><Relationship Type="http://schemas.openxmlformats.org/officeDocument/2006/relationships/image" Target="/ppt/media/image.bin" Id="Rf4036553d087400d" /><Relationship Type="http://schemas.openxmlformats.org/officeDocument/2006/relationships/image" Target="/ppt/media/image.png" Id="R43200e703a9541c9" /><Relationship Type="http://schemas.openxmlformats.org/officeDocument/2006/relationships/notesSlide" Target="/ppt/notesSlides/notesSlide1.xml" Id="R53d27d027c1a49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71359d2454d53" /><Relationship Type="http://schemas.openxmlformats.org/officeDocument/2006/relationships/notesSlide" Target="/ppt/notesSlides/notesSlide2.xml" Id="R8ef4034897ea4b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f078396cd34829" /><Relationship Type="http://schemas.openxmlformats.org/officeDocument/2006/relationships/notesSlide" Target="/ppt/notesSlides/notesSlide3.xml" Id="R236fe0b1204c46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e9fa2d4ca4ce5" /><Relationship Type="http://schemas.openxmlformats.org/officeDocument/2006/relationships/notesSlide" Target="/ppt/notesSlides/notesSlide4.xml" Id="Rfc0c0fd4544942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9fe271d9b4436" /><Relationship Type="http://schemas.openxmlformats.org/officeDocument/2006/relationships/notesSlide" Target="/ppt/notesSlides/notesSlide5.xml" Id="R88ba519a179a47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ac62ef3f440d5" /><Relationship Type="http://schemas.openxmlformats.org/officeDocument/2006/relationships/notesSlide" Target="/ppt/notesSlides/notesSlide6.xml" Id="R3932904a5bd149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915e5551d4a15" /><Relationship Type="http://schemas.openxmlformats.org/officeDocument/2006/relationships/notesSlide" Target="/ppt/notesSlides/notesSlide7.xml" Id="R18419d77d8be44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9264599b9649f0" /><Relationship Type="http://schemas.openxmlformats.org/officeDocument/2006/relationships/image" Target="/ppt/media/image2.bin" Id="Rb0275ae8c7104bc4" /><Relationship Type="http://schemas.openxmlformats.org/officeDocument/2006/relationships/notesSlide" Target="/ppt/notesSlides/notesSlide8.xml" Id="R7a045981db9b4d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D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ld-edge">
            <a:extLst xmlns:a="http://schemas.openxmlformats.org/drawingml/2006/main">
              <a:ext uri="{FF2B5EF4-FFF2-40B4-BE49-F238E27FC236}">
                <a16:creationId xmlns:a16="http://schemas.microsoft.com/office/drawing/2014/main" id="{1E66AD90-2F2F-4721-A947-52B16176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036553d087400d"/>
          <a:stretch xmlns:a="http://schemas.openxmlformats.org/drawingml/2006/main"/>
        </p:blipFill>
        <p:spPr>
          <a:xfrm xmlns:a="http://schemas.openxmlformats.org/drawingml/2006/main">
            <a:off x="666750" y="55245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3" name="cest-frame">
            <a:extLst xmlns:a="http://schemas.openxmlformats.org/drawingml/2006/main">
              <a:ext uri="{FF2B5EF4-FFF2-40B4-BE49-F238E27FC236}">
                <a16:creationId xmlns:a16="http://schemas.microsoft.com/office/drawing/2014/main" id="{86E3FC7F-7467-4411-BC16-BDCA3693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38150"/>
            <a:ext cx="1104900" cy="1276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200e703a9541c9"/>
          <a:stretch xmlns:a="http://schemas.openxmlformats.org/drawingml/2006/main"/>
        </p:blipFill>
        <p:spPr>
          <a:xfrm xmlns:a="http://schemas.openxmlformats.org/drawingml/2006/main">
            <a:off x="10439400" y="571302"/>
            <a:ext cx="800100" cy="1010046"/>
          </a:xfrm>
          <a:prstGeom xmlns:a="http://schemas.openxmlformats.org/drawingml/2006/main" prst="rect">
            <a:avLst/>
          </a:prstGeom>
        </p:spPr>
      </p:pic>
      <p:sp>
        <p:nvSpPr>
          <p:cNvPr id="5" name="deck-title">
            <a:extLst xmlns:a="http://schemas.openxmlformats.org/drawingml/2006/main">
              <a:ext uri="{FF2B5EF4-FFF2-40B4-BE49-F238E27FC236}">
                <a16:creationId xmlns:a16="http://schemas.microsoft.com/office/drawing/2014/main" id="{BBC7DF71-01A3-4E07-B187-A0E1AA0D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DEFENSA TÉCNICA ORAL</a:t>
            </a:r>
          </a:p>
        </p:txBody>
      </p:sp>
      <p:sp>
        <p:nvSpPr>
          <p:cNvPr id="6" name="group-topic">
            <a:extLst xmlns:a="http://schemas.openxmlformats.org/drawingml/2006/main">
              <a:ext uri="{FF2B5EF4-FFF2-40B4-BE49-F238E27FC236}">
                <a16:creationId xmlns:a16="http://schemas.microsoft.com/office/drawing/2014/main" id="{07DDF675-D427-433D-9A87-73E6E016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5C235"/>
                </a:solidFill>
              </a:defRPr>
            </a:pPr>
            <a:r>
              <a:rPr sz="2325" b="1">
                <a:solidFill>
                  <a:srgbClr val="F5C235"/>
                </a:solidFill>
              </a:rPr>
              <a:t>Bomba centrífuga</a:t>
            </a:r>
          </a:p>
        </p:txBody>
      </p:sp>
      <p:sp>
        <p:nvSpPr>
          <p:cNvPr id="7" name="group-id">
            <a:extLst xmlns:a="http://schemas.openxmlformats.org/drawingml/2006/main">
              <a:ext uri="{FF2B5EF4-FFF2-40B4-BE49-F238E27FC236}">
                <a16:creationId xmlns:a16="http://schemas.microsoft.com/office/drawing/2014/main" id="{13BD745D-5678-442B-B046-E1F79697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Grupo 6</a:t>
            </a:r>
          </a:p>
        </p:txBody>
      </p:sp>
      <p:sp>
        <p:nvSpPr>
          <p:cNvPr id="8" name="group-members">
            <a:extLst xmlns:a="http://schemas.openxmlformats.org/drawingml/2006/main">
              <a:ext uri="{FF2B5EF4-FFF2-40B4-BE49-F238E27FC236}">
                <a16:creationId xmlns:a16="http://schemas.microsoft.com/office/drawing/2014/main" id="{51125C0E-2E3E-4B1E-9858-8F9D7B30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971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6F6"/>
                </a:solidFill>
              </a:defRPr>
            </a:pPr>
            <a:r>
              <a:rPr sz="1350" b="0">
                <a:solidFill>
                  <a:srgbClr val="DCE6F6"/>
                </a:solidFill>
              </a:rPr>
              <a:t>Pablo Jara Landero · Diego Alfaro Vergara · Freddy Dorador Olave · Roberto Melgarejo Quijón · Sebastián Durán Landabur</a:t>
            </a:r>
          </a:p>
        </p:txBody>
      </p:sp>
      <p:sp>
        <p:nvSpPr>
          <p:cNvPr id="9" name="institution">
            <a:extLst xmlns:a="http://schemas.openxmlformats.org/drawingml/2006/main">
              <a:ext uri="{FF2B5EF4-FFF2-40B4-BE49-F238E27FC236}">
                <a16:creationId xmlns:a16="http://schemas.microsoft.com/office/drawing/2014/main" id="{02F0FC6A-0C29-47B3-A5FF-41051691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C0DA"/>
                </a:solidFill>
              </a:defRPr>
            </a:pPr>
            <a:r>
              <a:rPr sz="975" b="0">
                <a:solidFill>
                  <a:srgbClr val="AFC0DA"/>
                </a:solidFill>
              </a:rPr>
              <a:t>Centro Educativo Salesianos Talca · Lengua y Literatura / Mecánica Industrial · 2026</a:t>
            </a:r>
          </a:p>
        </p:txBody>
      </p:sp>
    </p:spTree>
    <p:extLst>
      <p:ext uri="{BB962C8B-B14F-4D97-AF65-F5344CB8AC3E}">
        <p14:creationId xmlns:p14="http://schemas.microsoft.com/office/powerpoint/2010/main" val="16321286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2">
            <a:extLst xmlns:a="http://schemas.openxmlformats.org/drawingml/2006/main">
              <a:ext uri="{FF2B5EF4-FFF2-40B4-BE49-F238E27FC236}">
                <a16:creationId xmlns:a16="http://schemas.microsoft.com/office/drawing/2014/main" id="{A00823C6-BE52-4EAE-80AA-1E86001D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01 · CONTEXTO TÉCNICO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899717C9-A0AC-477E-BAC7-87D9F683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El conjunto cumple una función necesaria en el sistema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3A5B0BFD-C7D8-446C-B64F-272B5B99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machine-photo">
            <a:extLst xmlns:a="http://schemas.openxmlformats.org/drawingml/2006/main">
              <a:ext uri="{FF2B5EF4-FFF2-40B4-BE49-F238E27FC236}">
                <a16:creationId xmlns:a16="http://schemas.microsoft.com/office/drawing/2014/main" id="{B315EB47-121A-4595-A14B-90891DFE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95450"/>
            <a:ext cx="47434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5" name="machine-photo-label">
            <a:extLst xmlns:a="http://schemas.openxmlformats.org/drawingml/2006/main">
              <a:ext uri="{FF2B5EF4-FFF2-40B4-BE49-F238E27FC236}">
                <a16:creationId xmlns:a16="http://schemas.microsoft.com/office/drawing/2014/main" id="{B05FA6C7-9ED4-49B8-BD1E-A79B3102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528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</a:defRPr>
            </a:pPr>
            <a:r>
              <a:rPr sz="1275" b="1">
                <a:solidFill>
                  <a:srgbClr val="53627A"/>
                </a:solidFill>
              </a:rPr>
              <a:t>INSERTAR FOTO REAL DE LA MÁQUINA O CONJUNTO</a:t>
            </a:r>
          </a:p>
        </p:txBody>
      </p:sp>
      <p:sp>
        <p:nvSpPr>
          <p:cNvPr id="6" name="equipment-label">
            <a:extLst xmlns:a="http://schemas.openxmlformats.org/drawingml/2006/main">
              <a:ext uri="{FF2B5EF4-FFF2-40B4-BE49-F238E27FC236}">
                <a16:creationId xmlns:a16="http://schemas.microsoft.com/office/drawing/2014/main" id="{007B3B9F-1DF3-47F4-B155-A225D154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</a:defRPr>
            </a:pPr>
            <a:r>
              <a:rPr sz="900" b="1">
                <a:solidFill>
                  <a:srgbClr val="0B5ED7"/>
                </a:solidFill>
              </a:rPr>
              <a:t>EQUIPO O CONJUNTO</a:t>
            </a:r>
          </a:p>
        </p:txBody>
      </p:sp>
      <p:sp>
        <p:nvSpPr>
          <p:cNvPr id="7" name="equipment">
            <a:extLst xmlns:a="http://schemas.openxmlformats.org/drawingml/2006/main">
              <a:ext uri="{FF2B5EF4-FFF2-40B4-BE49-F238E27FC236}">
                <a16:creationId xmlns:a16="http://schemas.microsoft.com/office/drawing/2014/main" id="{650D43B6-F702-44EC-887B-874F87CC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Bomba centrífuga</a:t>
            </a:r>
          </a:p>
        </p:txBody>
      </p:sp>
      <p:sp>
        <p:nvSpPr>
          <p:cNvPr id="8" name="location-function-label">
            <a:extLst xmlns:a="http://schemas.openxmlformats.org/drawingml/2006/main">
              <a:ext uri="{FF2B5EF4-FFF2-40B4-BE49-F238E27FC236}">
                <a16:creationId xmlns:a16="http://schemas.microsoft.com/office/drawing/2014/main" id="{D2E5D5AC-B963-4E71-BE53-E2A548E7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</a:defRPr>
            </a:pPr>
            <a:r>
              <a:rPr sz="900" b="1">
                <a:solidFill>
                  <a:srgbClr val="0B5ED7"/>
                </a:solidFill>
              </a:rPr>
              <a:t>UBICACIÓN Y FUNCIÓN</a:t>
            </a:r>
          </a:p>
        </p:txBody>
      </p:sp>
      <p:sp>
        <p:nvSpPr>
          <p:cNvPr id="9" name="location-function">
            <a:extLst xmlns:a="http://schemas.openxmlformats.org/drawingml/2006/main">
              <a:ext uri="{FF2B5EF4-FFF2-40B4-BE49-F238E27FC236}">
                <a16:creationId xmlns:a16="http://schemas.microsoft.com/office/drawing/2014/main" id="{8D56094D-22D1-49A1-8537-A6E7A132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71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Indiquen dónde se encuentra y qué función cumple dentro del sistema.</a:t>
            </a:r>
          </a:p>
        </p:txBody>
      </p:sp>
      <p:sp>
        <p:nvSpPr>
          <p:cNvPr id="10" name="maintenance-importance-label">
            <a:extLst xmlns:a="http://schemas.openxmlformats.org/drawingml/2006/main">
              <a:ext uri="{FF2B5EF4-FFF2-40B4-BE49-F238E27FC236}">
                <a16:creationId xmlns:a16="http://schemas.microsoft.com/office/drawing/2014/main" id="{9FC1AEC8-967A-4178-B2C3-B7CA4D65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</a:defRPr>
            </a:pPr>
            <a:r>
              <a:rPr sz="900" b="1">
                <a:solidFill>
                  <a:srgbClr val="0B5ED7"/>
                </a:solidFill>
              </a:rPr>
              <a:t>IMPORTANCIA DEL MANTENIMIENTO</a:t>
            </a:r>
          </a:p>
        </p:txBody>
      </p:sp>
      <p:sp>
        <p:nvSpPr>
          <p:cNvPr id="11" name="maintenance-importance">
            <a:extLst xmlns:a="http://schemas.openxmlformats.org/drawingml/2006/main">
              <a:ext uri="{FF2B5EF4-FFF2-40B4-BE49-F238E27FC236}">
                <a16:creationId xmlns:a16="http://schemas.microsoft.com/office/drawing/2014/main" id="{4C303CE4-E03C-4947-9853-22B85CC2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571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Expliquen qué podría ocurrir si el componente trabaja con desgaste, desajuste o lubricación deficiente.</a:t>
            </a:r>
          </a:p>
        </p:txBody>
      </p:sp>
      <p:sp>
        <p:nvSpPr>
          <p:cNvPr id="12" name="footer-2">
            <a:extLst xmlns:a="http://schemas.openxmlformats.org/drawingml/2006/main">
              <a:ext uri="{FF2B5EF4-FFF2-40B4-BE49-F238E27FC236}">
                <a16:creationId xmlns:a16="http://schemas.microsoft.com/office/drawing/2014/main" id="{2FB09B42-2AA2-4DE1-8030-5500156C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13" name="footer-text-2">
            <a:extLst xmlns:a="http://schemas.openxmlformats.org/drawingml/2006/main">
              <a:ext uri="{FF2B5EF4-FFF2-40B4-BE49-F238E27FC236}">
                <a16:creationId xmlns:a16="http://schemas.microsoft.com/office/drawing/2014/main" id="{A37954BF-E4C8-45A8-945E-AB24AADB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14" name="page-2">
            <a:extLst xmlns:a="http://schemas.openxmlformats.org/drawingml/2006/main">
              <a:ext uri="{FF2B5EF4-FFF2-40B4-BE49-F238E27FC236}">
                <a16:creationId xmlns:a16="http://schemas.microsoft.com/office/drawing/2014/main" id="{E3C580C8-110F-485E-B503-4480DD46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409660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3">
            <a:extLst xmlns:a="http://schemas.openxmlformats.org/drawingml/2006/main">
              <a:ext uri="{FF2B5EF4-FFF2-40B4-BE49-F238E27FC236}">
                <a16:creationId xmlns:a16="http://schemas.microsoft.com/office/drawing/2014/main" id="{44250E9A-8C99-4920-9C11-EB9C50BC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02 · OBJETIVOS Y RESPONSABILIDADES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42F4304B-649D-41CC-A149-E4077835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La intervención tuvo un propósito verificable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BC5DF139-A64E-4554-B5D3-E9547650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general-objective">
            <a:extLst xmlns:a="http://schemas.openxmlformats.org/drawingml/2006/main">
              <a:ext uri="{FF2B5EF4-FFF2-40B4-BE49-F238E27FC236}">
                <a16:creationId xmlns:a16="http://schemas.microsoft.com/office/drawing/2014/main" id="{46B90653-A5FC-4040-8C0B-B19302C3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BFD0EC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D46526D-7EBD-4D91-91F8-491808CE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OBJETIVO GENERAL</a:t>
            </a:r>
          </a:p>
        </p:txBody>
      </p:sp>
      <p:sp>
        <p:nvSpPr>
          <p:cNvPr id="6" name="objective-copy">
            <a:extLst xmlns:a="http://schemas.openxmlformats.org/drawingml/2006/main">
              <a:ext uri="{FF2B5EF4-FFF2-40B4-BE49-F238E27FC236}">
                <a16:creationId xmlns:a16="http://schemas.microsoft.com/office/drawing/2014/main" id="{DBCF963F-62EA-4695-8979-F2801EAA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Redacten una acción principal que indique qué se inspeccionó, mantuvo o diagnosticó y para qué.</a:t>
            </a:r>
          </a:p>
        </p:txBody>
      </p:sp>
      <p:sp>
        <p:nvSpPr>
          <p:cNvPr id="7" name="action-1">
            <a:extLst xmlns:a="http://schemas.openxmlformats.org/drawingml/2006/main">
              <a:ext uri="{FF2B5EF4-FFF2-40B4-BE49-F238E27FC236}">
                <a16:creationId xmlns:a16="http://schemas.microsoft.com/office/drawing/2014/main" id="{F54721A8-70BE-48FD-A3BD-4904547E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352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52924E7-02E4-42B0-8DBA-756FA9D7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F230127-F063-41C5-963C-395360C1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Acción técnica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CCD5BD7-EAF9-4D35-A73F-28A7B36F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operación concreta realizaron?</a:t>
            </a:r>
          </a:p>
        </p:txBody>
      </p:sp>
      <p:sp>
        <p:nvSpPr>
          <p:cNvPr id="11" name="action-2">
            <a:extLst xmlns:a="http://schemas.openxmlformats.org/drawingml/2006/main">
              <a:ext uri="{FF2B5EF4-FFF2-40B4-BE49-F238E27FC236}">
                <a16:creationId xmlns:a16="http://schemas.microsoft.com/office/drawing/2014/main" id="{07E0D654-E898-46F1-A26D-E24DA71F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43250"/>
            <a:ext cx="3352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40C47B2-37F7-4C46-B71E-0FEA684C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147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06D846F-98B7-4378-87BE-F3778122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337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Control y evidencia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B272A28-322C-4F21-95F9-A3D157EC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0525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midieron, observaron o registraron?</a:t>
            </a:r>
          </a:p>
        </p:txBody>
      </p:sp>
      <p:sp>
        <p:nvSpPr>
          <p:cNvPr id="15" name="action-3">
            <a:extLst xmlns:a="http://schemas.openxmlformats.org/drawingml/2006/main">
              <a:ext uri="{FF2B5EF4-FFF2-40B4-BE49-F238E27FC236}">
                <a16:creationId xmlns:a16="http://schemas.microsoft.com/office/drawing/2014/main" id="{C8640218-86CD-4A7B-BA6F-957AE940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43250"/>
            <a:ext cx="3352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0CF4DD7-8AAE-44F7-ADB4-BAA0BD2B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147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3C3F620-B837-4A84-93E9-8CF9A803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37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Resultado esperado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08C4149-C2DD-4F17-8D38-EFD68658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0525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condición buscaban recuperar o comprobar?</a:t>
            </a:r>
          </a:p>
        </p:txBody>
      </p:sp>
      <p:sp>
        <p:nvSpPr>
          <p:cNvPr id="19" name="participation-note">
            <a:extLst xmlns:a="http://schemas.openxmlformats.org/drawingml/2006/main">
              <a:ext uri="{FF2B5EF4-FFF2-40B4-BE49-F238E27FC236}">
                <a16:creationId xmlns:a16="http://schemas.microsoft.com/office/drawing/2014/main" id="{A76E79E2-3D68-4E41-8C9A-2227A8B5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825C"/>
                </a:solidFill>
              </a:defRPr>
            </a:pPr>
            <a:r>
              <a:rPr sz="1350" b="1">
                <a:solidFill>
                  <a:srgbClr val="17825C"/>
                </a:solidFill>
              </a:rPr>
              <a:t>Distribución oral: asignen a cada integrante una sección que pueda explicar y defender.</a:t>
            </a:r>
          </a:p>
        </p:txBody>
      </p:sp>
      <p:sp>
        <p:nvSpPr>
          <p:cNvPr id="20" name="footer-3">
            <a:extLst xmlns:a="http://schemas.openxmlformats.org/drawingml/2006/main">
              <a:ext uri="{FF2B5EF4-FFF2-40B4-BE49-F238E27FC236}">
                <a16:creationId xmlns:a16="http://schemas.microsoft.com/office/drawing/2014/main" id="{A6D05FF8-406E-40EA-A3D2-A68B27D1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21" name="footer-text-3">
            <a:extLst xmlns:a="http://schemas.openxmlformats.org/drawingml/2006/main">
              <a:ext uri="{FF2B5EF4-FFF2-40B4-BE49-F238E27FC236}">
                <a16:creationId xmlns:a16="http://schemas.microsoft.com/office/drawing/2014/main" id="{FC4D307F-6930-4E79-858E-D0D7B86F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22" name="page-3">
            <a:extLst xmlns:a="http://schemas.openxmlformats.org/drawingml/2006/main">
              <a:ext uri="{FF2B5EF4-FFF2-40B4-BE49-F238E27FC236}">
                <a16:creationId xmlns:a16="http://schemas.microsoft.com/office/drawing/2014/main" id="{7E7C0C7E-54A9-4B52-9470-6ECE9724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711042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-4">
            <a:extLst xmlns:a="http://schemas.openxmlformats.org/drawingml/2006/main">
              <a:ext uri="{FF2B5EF4-FFF2-40B4-BE49-F238E27FC236}">
                <a16:creationId xmlns:a16="http://schemas.microsoft.com/office/drawing/2014/main" id="{E72A1848-64E0-4B90-91FB-4F634A4E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03 · PROCEDIMIENTO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A563F48B-6742-4DA7-A333-0BE6E26B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El procedimiento siguió una secuencia segura y controlada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A16CE97C-C4AE-4520-BC0E-3FC9A0D4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step-1">
            <a:extLst xmlns:a="http://schemas.openxmlformats.org/drawingml/2006/main">
              <a:ext uri="{FF2B5EF4-FFF2-40B4-BE49-F238E27FC236}">
                <a16:creationId xmlns:a16="http://schemas.microsoft.com/office/drawing/2014/main" id="{EE0E55A8-4A20-465E-ADAF-5333E30D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438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B8CAE9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0A65493-FBA0-470C-9558-B71F4BC3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5ED7"/>
                </a:solidFill>
              </a:defRPr>
            </a:pPr>
            <a:r>
              <a:rPr sz="1575" b="1">
                <a:solidFill>
                  <a:srgbClr val="0B5ED7"/>
                </a:solidFill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9443782-50EE-4650-A615-D8042278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Inspección inicial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AB610E9-CF13-4C89-BCCD-AE70E9BB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Estado, riesgos y EPP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0F971F8-0E76-41C4-BC91-C5F90BC8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33650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→</a:t>
            </a:r>
          </a:p>
        </p:txBody>
      </p:sp>
      <p:sp>
        <p:nvSpPr>
          <p:cNvPr id="9" name="step-2">
            <a:extLst xmlns:a="http://schemas.openxmlformats.org/drawingml/2006/main">
              <a:ext uri="{FF2B5EF4-FFF2-40B4-BE49-F238E27FC236}">
                <a16:creationId xmlns:a16="http://schemas.microsoft.com/office/drawing/2014/main" id="{1605C5B9-50A5-42BD-A020-92CD56ED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24050"/>
            <a:ext cx="2438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40DD4ED-CEBA-43CC-9DDB-A9E60991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95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5ED7"/>
                </a:solidFill>
              </a:defRPr>
            </a:pPr>
            <a:r>
              <a:rPr sz="1575" b="1">
                <a:solidFill>
                  <a:srgbClr val="0B5ED7"/>
                </a:solidFill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A78357E-84E4-4ACB-B3C8-36BFCBC6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336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Desarme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9E2E927-0762-4EB3-AC43-37CB407F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480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Orden, herramientas y piezas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F9E2EEB-755B-4B9B-A1AC-B0DC3A92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33650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→</a:t>
            </a:r>
          </a:p>
        </p:txBody>
      </p:sp>
      <p:sp>
        <p:nvSpPr>
          <p:cNvPr id="14" name="step-3">
            <a:extLst xmlns:a="http://schemas.openxmlformats.org/drawingml/2006/main">
              <a:ext uri="{FF2B5EF4-FFF2-40B4-BE49-F238E27FC236}">
                <a16:creationId xmlns:a16="http://schemas.microsoft.com/office/drawing/2014/main" id="{1C8506D9-1F70-410F-B8FE-C7C043C6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24050"/>
            <a:ext cx="2438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5E2C1E7-8F95-49B6-AFF2-853464E2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5ED7"/>
                </a:solidFill>
              </a:defRPr>
            </a:pPr>
            <a:r>
              <a:rPr sz="1575" b="1">
                <a:solidFill>
                  <a:srgbClr val="0B5ED7"/>
                </a:solidFill>
              </a:rPr>
              <a:t>03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1C9D405-AC73-4059-90F8-56C9B1E8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336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Limpieza y medición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ADE5EC7-2D77-4E20-B573-2B0D151B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Evidencia y tolerancias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3602F38-0A0B-445A-B5E1-F9391333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33650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→</a:t>
            </a:r>
          </a:p>
        </p:txBody>
      </p:sp>
      <p:sp>
        <p:nvSpPr>
          <p:cNvPr id="19" name="step-4">
            <a:extLst xmlns:a="http://schemas.openxmlformats.org/drawingml/2006/main">
              <a:ext uri="{FF2B5EF4-FFF2-40B4-BE49-F238E27FC236}">
                <a16:creationId xmlns:a16="http://schemas.microsoft.com/office/drawing/2014/main" id="{BD603787-09DC-4802-9FD5-FBA62A40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24050"/>
            <a:ext cx="2438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DD2B9E4-007C-4516-ADB4-D1D79C26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95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5ED7"/>
                </a:solidFill>
              </a:defRPr>
            </a:pPr>
            <a:r>
              <a:rPr sz="1575" b="1">
                <a:solidFill>
                  <a:srgbClr val="0B5ED7"/>
                </a:solidFill>
              </a:rPr>
              <a:t>04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CD03207-FBEE-400D-BE0B-7518B6AD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336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Reensamble y control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CEF7801-CFBA-4496-A97F-38F637C9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480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Ajuste y comprobación</a:t>
            </a:r>
          </a:p>
        </p:txBody>
      </p:sp>
      <p:sp>
        <p:nvSpPr>
          <p:cNvPr id="23" name="procedure-photo">
            <a:extLst xmlns:a="http://schemas.openxmlformats.org/drawingml/2006/main">
              <a:ext uri="{FF2B5EF4-FFF2-40B4-BE49-F238E27FC236}">
                <a16:creationId xmlns:a16="http://schemas.microsoft.com/office/drawing/2014/main" id="{4ABB8014-C80F-43FC-9305-1D7F377C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48768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4" name="procedure-photo-label">
            <a:extLst xmlns:a="http://schemas.openxmlformats.org/drawingml/2006/main">
              <a:ext uri="{FF2B5EF4-FFF2-40B4-BE49-F238E27FC236}">
                <a16:creationId xmlns:a16="http://schemas.microsoft.com/office/drawing/2014/main" id="{3360E845-6C01-42BC-A65D-4D44AC2D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95825"/>
            <a:ext cx="441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</a:defRPr>
            </a:pPr>
            <a:r>
              <a:rPr sz="1275" b="1">
                <a:solidFill>
                  <a:srgbClr val="53627A"/>
                </a:solidFill>
              </a:rPr>
              <a:t>INSERTAR FOTO DEL PROCEDIMIENTO MÁS RELEVANTE</a:t>
            </a:r>
          </a:p>
        </p:txBody>
      </p:sp>
      <p:sp>
        <p:nvSpPr>
          <p:cNvPr id="25" name="technical-decision-label">
            <a:extLst xmlns:a="http://schemas.openxmlformats.org/drawingml/2006/main">
              <a:ext uri="{FF2B5EF4-FFF2-40B4-BE49-F238E27FC236}">
                <a16:creationId xmlns:a16="http://schemas.microsoft.com/office/drawing/2014/main" id="{23DE319E-BDC9-4453-AE66-B61EEBF8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00500"/>
            <a:ext cx="563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</a:defRPr>
            </a:pPr>
            <a:r>
              <a:rPr sz="900" b="1">
                <a:solidFill>
                  <a:srgbClr val="0B5ED7"/>
                </a:solidFill>
              </a:rPr>
              <a:t>DECISIÓN TÉCNICA CLAVE</a:t>
            </a:r>
          </a:p>
        </p:txBody>
      </p:sp>
      <p:sp>
        <p:nvSpPr>
          <p:cNvPr id="26" name="technical-decision">
            <a:extLst xmlns:a="http://schemas.openxmlformats.org/drawingml/2006/main">
              <a:ext uri="{FF2B5EF4-FFF2-40B4-BE49-F238E27FC236}">
                <a16:creationId xmlns:a16="http://schemas.microsoft.com/office/drawing/2014/main" id="{E47DE67A-9DA2-44D3-A468-F4257DD5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48150"/>
            <a:ext cx="5638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Expliquen una decisión tomada durante el procedimiento y qué evidencia la justificó.</a:t>
            </a:r>
          </a:p>
        </p:txBody>
      </p:sp>
      <p:sp>
        <p:nvSpPr>
          <p:cNvPr id="27" name="footer-4">
            <a:extLst xmlns:a="http://schemas.openxmlformats.org/drawingml/2006/main">
              <a:ext uri="{FF2B5EF4-FFF2-40B4-BE49-F238E27FC236}">
                <a16:creationId xmlns:a16="http://schemas.microsoft.com/office/drawing/2014/main" id="{2042B3EE-4C5B-48B4-B91F-CF70B87D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28" name="footer-text-4">
            <a:extLst xmlns:a="http://schemas.openxmlformats.org/drawingml/2006/main">
              <a:ext uri="{FF2B5EF4-FFF2-40B4-BE49-F238E27FC236}">
                <a16:creationId xmlns:a16="http://schemas.microsoft.com/office/drawing/2014/main" id="{9B04B39C-3A7E-4A50-B3A5-8C5C6338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29" name="page-4">
            <a:extLst xmlns:a="http://schemas.openxmlformats.org/drawingml/2006/main">
              <a:ext uri="{FF2B5EF4-FFF2-40B4-BE49-F238E27FC236}">
                <a16:creationId xmlns:a16="http://schemas.microsoft.com/office/drawing/2014/main" id="{6AAA8BFC-9B31-4032-9BE7-8F6DACE5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558598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5">
            <a:extLst xmlns:a="http://schemas.openxmlformats.org/drawingml/2006/main">
              <a:ext uri="{FF2B5EF4-FFF2-40B4-BE49-F238E27FC236}">
                <a16:creationId xmlns:a16="http://schemas.microsoft.com/office/drawing/2014/main" id="{463E8CC5-0E9E-43DC-A70F-5F55C583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04 · BANCO VISUAL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4C7B085C-5A4D-45D6-AB35-DED0CA12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La evidencia permite sostener el diagnóstico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AC242D6F-1520-42A8-983F-E054CC4E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evidence-photo-1">
            <a:extLst xmlns:a="http://schemas.openxmlformats.org/drawingml/2006/main">
              <a:ext uri="{FF2B5EF4-FFF2-40B4-BE49-F238E27FC236}">
                <a16:creationId xmlns:a16="http://schemas.microsoft.com/office/drawing/2014/main" id="{CBE006F7-735A-4367-B297-6544AB7C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3528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5" name="evidence-photo-1-label">
            <a:extLst xmlns:a="http://schemas.openxmlformats.org/drawingml/2006/main">
              <a:ext uri="{FF2B5EF4-FFF2-40B4-BE49-F238E27FC236}">
                <a16:creationId xmlns:a16="http://schemas.microsoft.com/office/drawing/2014/main" id="{5DE824D5-4530-4967-912A-3994A361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</a:defRPr>
            </a:pPr>
            <a:r>
              <a:rPr sz="1275" b="1">
                <a:solidFill>
                  <a:srgbClr val="53627A"/>
                </a:solidFill>
              </a:rPr>
              <a:t>FOTO 1 · VISTA GENERAL</a:t>
            </a:r>
          </a:p>
        </p:txBody>
      </p:sp>
      <p:sp>
        <p:nvSpPr>
          <p:cNvPr id="6" name="caption-1">
            <a:extLst xmlns:a="http://schemas.openxmlformats.org/drawingml/2006/main">
              <a:ext uri="{FF2B5EF4-FFF2-40B4-BE49-F238E27FC236}">
                <a16:creationId xmlns:a16="http://schemas.microsoft.com/office/drawing/2014/main" id="{CAEB82C7-583D-49F1-8D95-A615A9CB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parte del sistema permite ubicar?</a:t>
            </a:r>
          </a:p>
        </p:txBody>
      </p:sp>
      <p:sp>
        <p:nvSpPr>
          <p:cNvPr id="7" name="evidence-photo-2">
            <a:extLst xmlns:a="http://schemas.openxmlformats.org/drawingml/2006/main">
              <a:ext uri="{FF2B5EF4-FFF2-40B4-BE49-F238E27FC236}">
                <a16:creationId xmlns:a16="http://schemas.microsoft.com/office/drawing/2014/main" id="{CE41A6D3-26FB-4588-B062-EB9796A6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33550"/>
            <a:ext cx="33528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8" name="evidence-photo-2-label">
            <a:extLst xmlns:a="http://schemas.openxmlformats.org/drawingml/2006/main">
              <a:ext uri="{FF2B5EF4-FFF2-40B4-BE49-F238E27FC236}">
                <a16:creationId xmlns:a16="http://schemas.microsoft.com/office/drawing/2014/main" id="{7A2E9083-4037-4F43-8998-265A40F3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9560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</a:defRPr>
            </a:pPr>
            <a:r>
              <a:rPr sz="1275" b="1">
                <a:solidFill>
                  <a:srgbClr val="53627A"/>
                </a:solidFill>
              </a:rPr>
              <a:t>FOTO 2 · COMPONENTE</a:t>
            </a:r>
          </a:p>
        </p:txBody>
      </p:sp>
      <p:sp>
        <p:nvSpPr>
          <p:cNvPr id="9" name="caption-2">
            <a:extLst xmlns:a="http://schemas.openxmlformats.org/drawingml/2006/main">
              <a:ext uri="{FF2B5EF4-FFF2-40B4-BE49-F238E27FC236}">
                <a16:creationId xmlns:a16="http://schemas.microsoft.com/office/drawing/2014/main" id="{1A46342E-3B29-46B0-9651-3C982D38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29150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detalle técnico muestra?</a:t>
            </a:r>
          </a:p>
        </p:txBody>
      </p:sp>
      <p:sp>
        <p:nvSpPr>
          <p:cNvPr id="10" name="evidence-photo-3">
            <a:extLst xmlns:a="http://schemas.openxmlformats.org/drawingml/2006/main">
              <a:ext uri="{FF2B5EF4-FFF2-40B4-BE49-F238E27FC236}">
                <a16:creationId xmlns:a16="http://schemas.microsoft.com/office/drawing/2014/main" id="{71C5AF73-F10C-4192-83E1-FC1AF754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33550"/>
            <a:ext cx="33528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1" name="evidence-photo-3-label">
            <a:extLst xmlns:a="http://schemas.openxmlformats.org/drawingml/2006/main">
              <a:ext uri="{FF2B5EF4-FFF2-40B4-BE49-F238E27FC236}">
                <a16:creationId xmlns:a16="http://schemas.microsoft.com/office/drawing/2014/main" id="{FE3019DA-37D1-4D95-9179-B19ADF99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9560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</a:defRPr>
            </a:pPr>
            <a:r>
              <a:rPr sz="1275" b="1">
                <a:solidFill>
                  <a:srgbClr val="53627A"/>
                </a:solidFill>
              </a:rPr>
              <a:t>FOTO 3 · HALLAZGO</a:t>
            </a:r>
          </a:p>
        </p:txBody>
      </p:sp>
      <p:sp>
        <p:nvSpPr>
          <p:cNvPr id="12" name="caption-3">
            <a:extLst xmlns:a="http://schemas.openxmlformats.org/drawingml/2006/main">
              <a:ext uri="{FF2B5EF4-FFF2-40B4-BE49-F238E27FC236}">
                <a16:creationId xmlns:a16="http://schemas.microsoft.com/office/drawing/2014/main" id="{E3D9EDF2-6CBC-4C29-A3BA-0D5A807A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29150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desgaste, daño o condición evidencia?</a:t>
            </a:r>
          </a:p>
        </p:txBody>
      </p:sp>
      <p:sp>
        <p:nvSpPr>
          <p:cNvPr id="13" name="evidence-rule">
            <a:extLst xmlns:a="http://schemas.openxmlformats.org/drawingml/2006/main">
              <a:ext uri="{FF2B5EF4-FFF2-40B4-BE49-F238E27FC236}">
                <a16:creationId xmlns:a16="http://schemas.microsoft.com/office/drawing/2014/main" id="{9F9EC74B-9EFF-43F7-8FBF-63647087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9525">
            <a:solidFill>
              <a:srgbClr val="E9D388"/>
            </a:solidFill>
            <a:prstDash val="solid"/>
          </a:ln>
        </p:spPr>
      </p:sp>
      <p:sp>
        <p:nvSpPr>
          <p:cNvPr id="14" name="evidence-instruction">
            <a:extLst xmlns:a="http://schemas.openxmlformats.org/drawingml/2006/main">
              <a:ext uri="{FF2B5EF4-FFF2-40B4-BE49-F238E27FC236}">
                <a16:creationId xmlns:a16="http://schemas.microsoft.com/office/drawing/2014/main" id="{3D0AAF85-11A5-4B02-98A3-CCCDB4AD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1051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5414"/>
                </a:solidFill>
              </a:defRPr>
            </a:pPr>
            <a:r>
              <a:rPr sz="1350" b="1">
                <a:solidFill>
                  <a:srgbClr val="705414"/>
                </a:solidFill>
              </a:rPr>
              <a:t>Cada imagen debe tener una explicación oral: qué muestra, por qué importa y qué conclusión permite sostener.</a:t>
            </a:r>
          </a:p>
        </p:txBody>
      </p:sp>
      <p:sp>
        <p:nvSpPr>
          <p:cNvPr id="15" name="footer-5">
            <a:extLst xmlns:a="http://schemas.openxmlformats.org/drawingml/2006/main">
              <a:ext uri="{FF2B5EF4-FFF2-40B4-BE49-F238E27FC236}">
                <a16:creationId xmlns:a16="http://schemas.microsoft.com/office/drawing/2014/main" id="{2DC1FDF4-3BAA-41C0-80ED-068C81D8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16" name="footer-text-5">
            <a:extLst xmlns:a="http://schemas.openxmlformats.org/drawingml/2006/main">
              <a:ext uri="{FF2B5EF4-FFF2-40B4-BE49-F238E27FC236}">
                <a16:creationId xmlns:a16="http://schemas.microsoft.com/office/drawing/2014/main" id="{0B086E35-C880-4FF0-B3C7-2F9D0841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17" name="page-5">
            <a:extLst xmlns:a="http://schemas.openxmlformats.org/drawingml/2006/main">
              <a:ext uri="{FF2B5EF4-FFF2-40B4-BE49-F238E27FC236}">
                <a16:creationId xmlns:a16="http://schemas.microsoft.com/office/drawing/2014/main" id="{19A31DA5-841A-46C6-B5EB-A64D826D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494628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eyebrow-6">
            <a:extLst xmlns:a="http://schemas.openxmlformats.org/drawingml/2006/main">
              <a:ext uri="{FF2B5EF4-FFF2-40B4-BE49-F238E27FC236}">
                <a16:creationId xmlns:a16="http://schemas.microsoft.com/office/drawing/2014/main" id="{9B012792-CC1D-4410-ABF5-8F45DAC5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05 · RESULTADOS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25E59538-B05E-4779-983C-69A007C7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El diagnóstico conecta hallazgo, causa y consecuencia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798024C1-8F9F-4E3D-8867-D71C9A37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head-HALLAZGO">
            <a:extLst xmlns:a="http://schemas.openxmlformats.org/drawingml/2006/main">
              <a:ext uri="{FF2B5EF4-FFF2-40B4-BE49-F238E27FC236}">
                <a16:creationId xmlns:a16="http://schemas.microsoft.com/office/drawing/2014/main" id="{81B898A4-610F-4EA8-AB09-909BA9BF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1B2E5A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97D8240-5C0E-44B5-84FB-C3CCAE2A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HALLAZGO</a:t>
            </a:r>
          </a:p>
        </p:txBody>
      </p:sp>
      <p:sp>
        <p:nvSpPr>
          <p:cNvPr id="6" name="head-EVIDENCIA">
            <a:extLst xmlns:a="http://schemas.openxmlformats.org/drawingml/2006/main">
              <a:ext uri="{FF2B5EF4-FFF2-40B4-BE49-F238E27FC236}">
                <a16:creationId xmlns:a16="http://schemas.microsoft.com/office/drawing/2014/main" id="{33637881-62B7-4F4D-B707-03A65570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3355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1B2E5A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69F9E51-4C6A-43AB-A737-4263E6B4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859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EVIDENCIA</a:t>
            </a:r>
          </a:p>
        </p:txBody>
      </p:sp>
      <p:sp>
        <p:nvSpPr>
          <p:cNvPr id="8" name="head-CAUSA PROBABLE">
            <a:extLst xmlns:a="http://schemas.openxmlformats.org/drawingml/2006/main">
              <a:ext uri="{FF2B5EF4-FFF2-40B4-BE49-F238E27FC236}">
                <a16:creationId xmlns:a16="http://schemas.microsoft.com/office/drawing/2014/main" id="{09AE6664-9792-4A21-86F9-DC7B54F3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7335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1B2E5A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A4F5212-A2AE-4C6C-8C20-A3BCF639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88595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CAUSA PROBABLE</a:t>
            </a:r>
          </a:p>
        </p:txBody>
      </p:sp>
      <p:sp>
        <p:nvSpPr>
          <p:cNvPr id="10" name="head-RIESGO O EFECTO">
            <a:extLst xmlns:a="http://schemas.openxmlformats.org/drawingml/2006/main">
              <a:ext uri="{FF2B5EF4-FFF2-40B4-BE49-F238E27FC236}">
                <a16:creationId xmlns:a16="http://schemas.microsoft.com/office/drawing/2014/main" id="{B4B6FD08-AE6D-41C3-BB79-D8ACB4C5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33550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1B2E5A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A934EA4-F9C6-4C40-B3EA-CD30579A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859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RIESGO O EFECTO</a:t>
            </a:r>
          </a:p>
        </p:txBody>
      </p:sp>
      <p:sp>
        <p:nvSpPr>
          <p:cNvPr id="12" name="cell-0-0">
            <a:extLst xmlns:a="http://schemas.openxmlformats.org/drawingml/2006/main">
              <a:ext uri="{FF2B5EF4-FFF2-40B4-BE49-F238E27FC236}">
                <a16:creationId xmlns:a16="http://schemas.microsoft.com/office/drawing/2014/main" id="{876EDF7C-A6C4-47CA-8F08-BC8235CB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450ECCD-59DA-4F75-B2E6-DC248741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Condición observada</a:t>
            </a:r>
          </a:p>
        </p:txBody>
      </p:sp>
      <p:sp>
        <p:nvSpPr>
          <p:cNvPr id="14" name="cell-0-1">
            <a:extLst xmlns:a="http://schemas.openxmlformats.org/drawingml/2006/main">
              <a:ext uri="{FF2B5EF4-FFF2-40B4-BE49-F238E27FC236}">
                <a16:creationId xmlns:a16="http://schemas.microsoft.com/office/drawing/2014/main" id="{2574C3BE-EA33-4B69-9985-DF9D6902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4790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E7E3029-BCC8-46E5-9E0B-6E1FC262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95550"/>
            <a:ext cx="240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Foto, medición o prueba</a:t>
            </a:r>
          </a:p>
        </p:txBody>
      </p:sp>
      <p:sp>
        <p:nvSpPr>
          <p:cNvPr id="16" name="cell-0-2">
            <a:extLst xmlns:a="http://schemas.openxmlformats.org/drawingml/2006/main">
              <a:ext uri="{FF2B5EF4-FFF2-40B4-BE49-F238E27FC236}">
                <a16:creationId xmlns:a16="http://schemas.microsoft.com/office/drawing/2014/main" id="{B48EDC4B-AFCB-40F9-A9DA-CDEEB930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479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7700B52-8304-4B17-B1B4-489F5C2D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9555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Explicación técnica</a:t>
            </a:r>
          </a:p>
        </p:txBody>
      </p:sp>
      <p:sp>
        <p:nvSpPr>
          <p:cNvPr id="18" name="cell-0-3">
            <a:extLst xmlns:a="http://schemas.openxmlformats.org/drawingml/2006/main">
              <a:ext uri="{FF2B5EF4-FFF2-40B4-BE49-F238E27FC236}">
                <a16:creationId xmlns:a16="http://schemas.microsoft.com/office/drawing/2014/main" id="{AF29BB91-3F5B-46A0-B12E-0242496E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47900"/>
            <a:ext cx="2971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1B48B08-B3DF-44CA-84A5-A655E1FF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95550"/>
            <a:ext cx="2705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Efecto en operación o seguridad</a:t>
            </a:r>
          </a:p>
        </p:txBody>
      </p:sp>
      <p:sp>
        <p:nvSpPr>
          <p:cNvPr id="20" name="cell-1-0">
            <a:extLst xmlns:a="http://schemas.openxmlformats.org/drawingml/2006/main">
              <a:ext uri="{FF2B5EF4-FFF2-40B4-BE49-F238E27FC236}">
                <a16:creationId xmlns:a16="http://schemas.microsoft.com/office/drawing/2014/main" id="{74D5B550-F469-4255-BC4D-E38ADB6F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E334CDC-E223-4C2E-9848-B2675E73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22" name="cell-1-1">
            <a:extLst xmlns:a="http://schemas.openxmlformats.org/drawingml/2006/main">
              <a:ext uri="{FF2B5EF4-FFF2-40B4-BE49-F238E27FC236}">
                <a16:creationId xmlns:a16="http://schemas.microsoft.com/office/drawing/2014/main" id="{8E50DE06-9070-462E-9C1B-3A00584F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1470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7116FE5-F194-4BB2-9B4A-B3EA90D8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62350"/>
            <a:ext cx="240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24" name="cell-1-2">
            <a:extLst xmlns:a="http://schemas.openxmlformats.org/drawingml/2006/main">
              <a:ext uri="{FF2B5EF4-FFF2-40B4-BE49-F238E27FC236}">
                <a16:creationId xmlns:a16="http://schemas.microsoft.com/office/drawing/2014/main" id="{5B8563AA-B68C-4A3A-9B71-73658852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147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7E0CA4A0-44C9-48DB-9A6A-1A055442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56235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26" name="cell-1-3">
            <a:extLst xmlns:a="http://schemas.openxmlformats.org/drawingml/2006/main">
              <a:ext uri="{FF2B5EF4-FFF2-40B4-BE49-F238E27FC236}">
                <a16:creationId xmlns:a16="http://schemas.microsoft.com/office/drawing/2014/main" id="{BE0B4E32-7D6E-46B2-AD7E-7D60B76F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14700"/>
            <a:ext cx="2971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8622D558-4239-4746-BEF2-4C089441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62350"/>
            <a:ext cx="2705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28" name="cell-2-0">
            <a:extLst xmlns:a="http://schemas.openxmlformats.org/drawingml/2006/main">
              <a:ext uri="{FF2B5EF4-FFF2-40B4-BE49-F238E27FC236}">
                <a16:creationId xmlns:a16="http://schemas.microsoft.com/office/drawing/2014/main" id="{DF885C06-18B9-4B80-8A73-5B88EA7D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CEA67BB5-C8BD-4529-AE16-82391C29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30" name="cell-2-1">
            <a:extLst xmlns:a="http://schemas.openxmlformats.org/drawingml/2006/main">
              <a:ext uri="{FF2B5EF4-FFF2-40B4-BE49-F238E27FC236}">
                <a16:creationId xmlns:a16="http://schemas.microsoft.com/office/drawing/2014/main" id="{51499721-55AB-4E0E-A318-B9E86398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38150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1367C75D-880C-452B-A6EF-CCC00691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629150"/>
            <a:ext cx="240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32" name="cell-2-2">
            <a:extLst xmlns:a="http://schemas.openxmlformats.org/drawingml/2006/main">
              <a:ext uri="{FF2B5EF4-FFF2-40B4-BE49-F238E27FC236}">
                <a16:creationId xmlns:a16="http://schemas.microsoft.com/office/drawing/2014/main" id="{97759369-0EB2-4FAA-ADCA-F9C81EA5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3815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CDED8A57-1887-4E4A-8470-4AED6B46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62915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34" name="cell-2-3">
            <a:extLst xmlns:a="http://schemas.openxmlformats.org/drawingml/2006/main">
              <a:ext uri="{FF2B5EF4-FFF2-40B4-BE49-F238E27FC236}">
                <a16:creationId xmlns:a16="http://schemas.microsoft.com/office/drawing/2014/main" id="{29400221-933E-43E0-9B8F-DE75C55A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81500"/>
            <a:ext cx="2971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5E96F9BB-0737-4A2F-A312-20C8E7F7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29150"/>
            <a:ext cx="2705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36" name="diagnostic-conclusion">
            <a:extLst xmlns:a="http://schemas.openxmlformats.org/drawingml/2006/main">
              <a:ext uri="{FF2B5EF4-FFF2-40B4-BE49-F238E27FC236}">
                <a16:creationId xmlns:a16="http://schemas.microsoft.com/office/drawing/2014/main" id="{9AD136F8-FE93-40E1-AAFD-44609E15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825C"/>
                </a:solidFill>
              </a:defRPr>
            </a:pPr>
            <a:r>
              <a:rPr sz="1425" b="1">
                <a:solidFill>
                  <a:srgbClr val="17825C"/>
                </a:solidFill>
              </a:rPr>
              <a:t>Conclusión diagnóstica: formulen una afirmación respaldada por los datos anteriores.</a:t>
            </a:r>
          </a:p>
        </p:txBody>
      </p:sp>
      <p:sp>
        <p:nvSpPr>
          <p:cNvPr id="37" name="footer-6">
            <a:extLst xmlns:a="http://schemas.openxmlformats.org/drawingml/2006/main">
              <a:ext uri="{FF2B5EF4-FFF2-40B4-BE49-F238E27FC236}">
                <a16:creationId xmlns:a16="http://schemas.microsoft.com/office/drawing/2014/main" id="{03219703-4BF5-463A-AD97-68BAC7C3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38" name="footer-text-6">
            <a:extLst xmlns:a="http://schemas.openxmlformats.org/drawingml/2006/main">
              <a:ext uri="{FF2B5EF4-FFF2-40B4-BE49-F238E27FC236}">
                <a16:creationId xmlns:a16="http://schemas.microsoft.com/office/drawing/2014/main" id="{C1CFD916-4A60-4473-AEF2-B512FCE6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39" name="page-6">
            <a:extLst xmlns:a="http://schemas.openxmlformats.org/drawingml/2006/main">
              <a:ext uri="{FF2B5EF4-FFF2-40B4-BE49-F238E27FC236}">
                <a16:creationId xmlns:a16="http://schemas.microsoft.com/office/drawing/2014/main" id="{1EC55325-50D8-49DF-AAE2-A28FA086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941069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7">
            <a:extLst xmlns:a="http://schemas.openxmlformats.org/drawingml/2006/main">
              <a:ext uri="{FF2B5EF4-FFF2-40B4-BE49-F238E27FC236}">
                <a16:creationId xmlns:a16="http://schemas.microsoft.com/office/drawing/2014/main" id="{3A3A2CDB-7DD4-4648-94E9-7A10131C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06 · PLAN DE ACCIÓN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A5C52642-72DC-4915-971C-CF401A89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La propuesta transforma el diagnóstico en mantenimiento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310E2A2A-7815-48F3-B26C-EA41E215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plan-1">
            <a:extLst xmlns:a="http://schemas.openxmlformats.org/drawingml/2006/main">
              <a:ext uri="{FF2B5EF4-FFF2-40B4-BE49-F238E27FC236}">
                <a16:creationId xmlns:a16="http://schemas.microsoft.com/office/drawing/2014/main" id="{67706517-ABB2-45CA-A82C-65E011A6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5" name="plan-accent-1">
            <a:extLst xmlns:a="http://schemas.openxmlformats.org/drawingml/2006/main">
              <a:ext uri="{FF2B5EF4-FFF2-40B4-BE49-F238E27FC236}">
                <a16:creationId xmlns:a16="http://schemas.microsoft.com/office/drawing/2014/main" id="{32A5F11C-5A6E-4593-AFE9-FF8FF1B5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D7"/>
          </a:solidFill>
          <a:ln xmlns:a="http://schemas.openxmlformats.org/drawingml/2006/main" w="9525">
            <a:solidFill>
              <a:srgbClr val="0B5ED7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307152D-5B0E-4765-ACCC-D6D343A2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431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D3F"/>
                </a:solidFill>
              </a:defRPr>
            </a:pPr>
            <a:r>
              <a:rPr sz="1650" b="1">
                <a:solidFill>
                  <a:srgbClr val="111D3F"/>
                </a:solidFill>
              </a:rPr>
              <a:t>Acción inmediata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36BCD77-A154-45A8-BFED-9AF7F923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43100"/>
            <a:ext cx="704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</a:defRPr>
            </a:pPr>
            <a:r>
              <a:rPr sz="1350" b="0">
                <a:solidFill>
                  <a:srgbClr val="53627A"/>
                </a:solidFill>
              </a:rPr>
              <a:t>¿Qué se debe limpiar, ajustar, reemplazar, lubricar o comprobar?</a:t>
            </a:r>
          </a:p>
        </p:txBody>
      </p:sp>
      <p:sp>
        <p:nvSpPr>
          <p:cNvPr id="8" name="plan-2">
            <a:extLst xmlns:a="http://schemas.openxmlformats.org/drawingml/2006/main">
              <a:ext uri="{FF2B5EF4-FFF2-40B4-BE49-F238E27FC236}">
                <a16:creationId xmlns:a16="http://schemas.microsoft.com/office/drawing/2014/main" id="{4676C864-67D7-47D0-9B3F-2BF98970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0972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9" name="plan-accent-2">
            <a:extLst xmlns:a="http://schemas.openxmlformats.org/drawingml/2006/main">
              <a:ext uri="{FF2B5EF4-FFF2-40B4-BE49-F238E27FC236}">
                <a16:creationId xmlns:a16="http://schemas.microsoft.com/office/drawing/2014/main" id="{E2FFC835-9238-41CD-9A75-B9D44E03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25C"/>
          </a:solidFill>
          <a:ln xmlns:a="http://schemas.openxmlformats.org/drawingml/2006/main" w="9525">
            <a:solidFill>
              <a:srgbClr val="17825C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D321E33-FF30-4133-AE0C-9C3A04CC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D3F"/>
                </a:solidFill>
              </a:defRPr>
            </a:pPr>
            <a:r>
              <a:rPr sz="1650" b="1">
                <a:solidFill>
                  <a:srgbClr val="111D3F"/>
                </a:solidFill>
              </a:rPr>
              <a:t>Prevención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3A4A37A-2EB9-4125-A5BF-0EB933EE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57550"/>
            <a:ext cx="704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</a:defRPr>
            </a:pPr>
            <a:r>
              <a:rPr sz="1350" b="0">
                <a:solidFill>
                  <a:srgbClr val="53627A"/>
                </a:solidFill>
              </a:rPr>
              <a:t>¿Qué tarea periódica evitaría que el problema reaparezca?</a:t>
            </a:r>
          </a:p>
        </p:txBody>
      </p:sp>
      <p:sp>
        <p:nvSpPr>
          <p:cNvPr id="12" name="plan-3">
            <a:extLst xmlns:a="http://schemas.openxmlformats.org/drawingml/2006/main">
              <a:ext uri="{FF2B5EF4-FFF2-40B4-BE49-F238E27FC236}">
                <a16:creationId xmlns:a16="http://schemas.microsoft.com/office/drawing/2014/main" id="{571F71F0-0F72-4220-98AA-FC9D63CA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3" name="plan-accent-3">
            <a:extLst xmlns:a="http://schemas.openxmlformats.org/drawingml/2006/main">
              <a:ext uri="{FF2B5EF4-FFF2-40B4-BE49-F238E27FC236}">
                <a16:creationId xmlns:a16="http://schemas.microsoft.com/office/drawing/2014/main" id="{2F5986D5-C947-45D3-B9A1-156F9A3F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040"/>
          </a:solidFill>
          <a:ln xmlns:a="http://schemas.openxmlformats.org/drawingml/2006/main" w="9525">
            <a:solidFill>
              <a:srgbClr val="B64040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CDEBA20-B1C6-4846-8B7B-4B1A74C2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D3F"/>
                </a:solidFill>
              </a:defRPr>
            </a:pPr>
            <a:r>
              <a:rPr sz="1650" b="1">
                <a:solidFill>
                  <a:srgbClr val="111D3F"/>
                </a:solidFill>
              </a:rPr>
              <a:t>Seguridad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13DDAEA-1878-4A3C-9B8E-94EACFDB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72000"/>
            <a:ext cx="704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</a:defRPr>
            </a:pPr>
            <a:r>
              <a:rPr sz="1350" b="0">
                <a:solidFill>
                  <a:srgbClr val="53627A"/>
                </a:solidFill>
              </a:rPr>
              <a:t>¿Qué riesgo, EPP y control deben considerarse?</a:t>
            </a:r>
          </a:p>
        </p:txBody>
      </p:sp>
      <p:sp>
        <p:nvSpPr>
          <p:cNvPr id="16" name="feasibility">
            <a:extLst xmlns:a="http://schemas.openxmlformats.org/drawingml/2006/main">
              <a:ext uri="{FF2B5EF4-FFF2-40B4-BE49-F238E27FC236}">
                <a16:creationId xmlns:a16="http://schemas.microsoft.com/office/drawing/2014/main" id="{89D59505-0335-41A8-A854-0B6AD6B0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9525">
            <a:solidFill>
              <a:srgbClr val="E9D388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8B864E5-466E-4740-8E80-07BBD9F2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57875"/>
            <a:ext cx="1055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05414"/>
                </a:solidFill>
              </a:defRPr>
            </a:pPr>
            <a:r>
              <a:rPr sz="1275" b="1">
                <a:solidFill>
                  <a:srgbClr val="705414"/>
                </a:solidFill>
              </a:rPr>
              <a:t>La recomendación debe ser viable para el taller y coherente con la evidencia presentada.</a:t>
            </a:r>
          </a:p>
        </p:txBody>
      </p:sp>
      <p:sp>
        <p:nvSpPr>
          <p:cNvPr id="18" name="footer-7">
            <a:extLst xmlns:a="http://schemas.openxmlformats.org/drawingml/2006/main">
              <a:ext uri="{FF2B5EF4-FFF2-40B4-BE49-F238E27FC236}">
                <a16:creationId xmlns:a16="http://schemas.microsoft.com/office/drawing/2014/main" id="{48125EAB-3B11-483E-B646-EBCEA074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19" name="footer-text-7">
            <a:extLst xmlns:a="http://schemas.openxmlformats.org/drawingml/2006/main">
              <a:ext uri="{FF2B5EF4-FFF2-40B4-BE49-F238E27FC236}">
                <a16:creationId xmlns:a16="http://schemas.microsoft.com/office/drawing/2014/main" id="{0DFEA12C-B441-47C0-938F-3542756E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20" name="page-7">
            <a:extLst xmlns:a="http://schemas.openxmlformats.org/drawingml/2006/main">
              <a:ext uri="{FF2B5EF4-FFF2-40B4-BE49-F238E27FC236}">
                <a16:creationId xmlns:a16="http://schemas.microsoft.com/office/drawing/2014/main" id="{1BF0C92B-0ACF-484C-9424-0BDCC8DC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404942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D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4C6AD842-6D55-410E-984B-83081A96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La intervención permite concluir y decidir</a:t>
            </a:r>
          </a:p>
        </p:txBody>
      </p:sp>
      <p:sp>
        <p:nvSpPr>
          <p:cNvPr id="2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B6E22445-08AA-4085-8983-42F801F5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447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3" name="conclusion-1">
            <a:extLst xmlns:a="http://schemas.openxmlformats.org/drawingml/2006/main">
              <a:ext uri="{FF2B5EF4-FFF2-40B4-BE49-F238E27FC236}">
                <a16:creationId xmlns:a16="http://schemas.microsoft.com/office/drawing/2014/main" id="{93B37E27-3E26-4907-A1C8-3D937441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723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365181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7A92D89-F290-4096-A670-EF3630CA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670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1 · Qué condición técnica comprobaron.</a:t>
            </a:r>
          </a:p>
        </p:txBody>
      </p:sp>
      <p:sp>
        <p:nvSpPr>
          <p:cNvPr id="5" name="conclusion-2">
            <a:extLst xmlns:a="http://schemas.openxmlformats.org/drawingml/2006/main">
              <a:ext uri="{FF2B5EF4-FFF2-40B4-BE49-F238E27FC236}">
                <a16:creationId xmlns:a16="http://schemas.microsoft.com/office/drawing/2014/main" id="{C09BA7DD-2BCA-4200-ADA8-AD296CEE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723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365181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6E65337-D770-40D8-84AF-8935EC53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670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2 · Qué evidencia fue decisiva para el diagnóstico.</a:t>
            </a:r>
          </a:p>
        </p:txBody>
      </p:sp>
      <p:sp>
        <p:nvSpPr>
          <p:cNvPr id="7" name="conclusion-3">
            <a:extLst xmlns:a="http://schemas.openxmlformats.org/drawingml/2006/main">
              <a:ext uri="{FF2B5EF4-FFF2-40B4-BE49-F238E27FC236}">
                <a16:creationId xmlns:a16="http://schemas.microsoft.com/office/drawing/2014/main" id="{E8FFC552-6FCA-4682-A030-27C803BF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23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365181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141A01B-151A-413A-BD99-96F325F9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670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3 · Qué acción recomiendan y por qué.</a:t>
            </a:r>
          </a:p>
        </p:txBody>
      </p:sp>
      <p:sp>
        <p:nvSpPr>
          <p:cNvPr id="9" name="question-panel">
            <a:extLst xmlns:a="http://schemas.openxmlformats.org/drawingml/2006/main">
              <a:ext uri="{FF2B5EF4-FFF2-40B4-BE49-F238E27FC236}">
                <a16:creationId xmlns:a16="http://schemas.microsoft.com/office/drawing/2014/main" id="{56FE1466-E79F-4F8A-A550-FAA2194E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33550"/>
            <a:ext cx="32766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275ae8c7104bc4"/>
          <a:stretch xmlns:a="http://schemas.openxmlformats.org/drawingml/2006/main"/>
        </p:blipFill>
        <p:spPr>
          <a:xfrm xmlns:a="http://schemas.openxmlformats.org/drawingml/2006/main">
            <a:off x="9315450" y="203835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E73963B-FADF-453D-AD66-1867EF81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62350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D3F"/>
                </a:solidFill>
              </a:defRPr>
            </a:pPr>
            <a:r>
              <a:rPr sz="2400" b="1">
                <a:solidFill>
                  <a:srgbClr val="111D3F"/>
                </a:solidFill>
              </a:rPr>
              <a:t>Preguntas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574E71F-D8E5-4747-9574-434E97D7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El equipo responde utilizando evidencia del informe y del trabajo realizado.</a:t>
            </a:r>
          </a:p>
        </p:txBody>
      </p:sp>
      <p:sp>
        <p:nvSpPr>
          <p:cNvPr id="13" name="final-callout">
            <a:extLst xmlns:a="http://schemas.openxmlformats.org/drawingml/2006/main">
              <a:ext uri="{FF2B5EF4-FFF2-40B4-BE49-F238E27FC236}">
                <a16:creationId xmlns:a16="http://schemas.microsoft.com/office/drawing/2014/main" id="{BF1B9795-4DF0-440F-8290-7EA49CF0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C235"/>
                </a:solidFill>
              </a:defRPr>
            </a:pPr>
            <a:r>
              <a:rPr sz="1575" b="1">
                <a:solidFill>
                  <a:srgbClr val="F5C235"/>
                </a:solidFill>
              </a:rPr>
              <a:t>Defiendan las decisiones técnicas; no repitan de memoria.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5117E34-1B23-455D-A92D-792C6329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C0DA"/>
                </a:solidFill>
              </a:defRPr>
            </a:pPr>
            <a:r>
              <a:rPr sz="975" b="0">
                <a:solidFill>
                  <a:srgbClr val="AFC0DA"/>
                </a:solidFill>
              </a:rPr>
              <a:t>Centro Educativo Salesianos Talca · 2026</a:t>
            </a:r>
          </a:p>
        </p:txBody>
      </p:sp>
    </p:spTree>
    <p:extLst>
      <p:ext uri="{BB962C8B-B14F-4D97-AF65-F5344CB8AC3E}">
        <p14:creationId xmlns:p14="http://schemas.microsoft.com/office/powerpoint/2010/main" val="20814760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2026-07-24T12:43:41.6720000Z</dcterms:created>
  <dcterms:modified xsi:type="dcterms:W3CDTF">2026-07-24T12:43:41.6720000Z</dcterms:modified>
</coreProperties>
</file>