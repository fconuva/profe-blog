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4a71666a36476a" /><Relationship Type="http://schemas.openxmlformats.org/officeDocument/2006/relationships/extended-properties" Target="/docProps/app.xml" Id="R426e2978610d4965" /><Relationship Type="http://schemas.openxmlformats.org/officeDocument/2006/relationships/officeDocument" Target="/ppt/presentation.xml" Id="R1393db9bbcc149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5cd3550f374d36"/>
  </p:sldMasterIdLst>
  <p:notesMasterIdLst>
    <p:notesMasterId xmlns:r="http://schemas.openxmlformats.org/officeDocument/2006/relationships" r:id="Re18fb929975e4ebe"/>
  </p:notesMasterIdLst>
  <p:sldIdLst>
    <p:sldId xmlns:r="http://schemas.openxmlformats.org/officeDocument/2006/relationships" id="256" r:id="R6d2a8b5488ee42db"/>
    <p:sldId xmlns:r="http://schemas.openxmlformats.org/officeDocument/2006/relationships" id="257" r:id="Ref059902df8349b0"/>
    <p:sldId xmlns:r="http://schemas.openxmlformats.org/officeDocument/2006/relationships" id="258" r:id="Re3d7e5c71fc7485c"/>
    <p:sldId xmlns:r="http://schemas.openxmlformats.org/officeDocument/2006/relationships" id="259" r:id="R41a52129d0c84c50"/>
    <p:sldId xmlns:r="http://schemas.openxmlformats.org/officeDocument/2006/relationships" id="260" r:id="R8b7880c53c9f45a6"/>
    <p:sldId xmlns:r="http://schemas.openxmlformats.org/officeDocument/2006/relationships" id="261" r:id="Re988b7767aa44a49"/>
    <p:sldId xmlns:r="http://schemas.openxmlformats.org/officeDocument/2006/relationships" id="262" r:id="Rbb70b558a5ac442a"/>
    <p:sldId xmlns:r="http://schemas.openxmlformats.org/officeDocument/2006/relationships" id="263" r:id="Rbb451b09c3bf4cf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d71ae0d637474a" /><Relationship Type="http://schemas.openxmlformats.org/officeDocument/2006/relationships/slideMaster" Target="/ppt/slideMasters/slideMaster1.xml" Id="Re15cd3550f374d36" /><Relationship Type="http://schemas.openxmlformats.org/officeDocument/2006/relationships/notesMaster" Target="/ppt/notesMasters/notesMaster1.xml" Id="Re18fb929975e4ebe" /><Relationship Type="http://schemas.openxmlformats.org/officeDocument/2006/relationships/presProps" Target="/ppt/presProps.xml" Id="Rd7765f4ed01841b8" /><Relationship Type="http://schemas.openxmlformats.org/officeDocument/2006/relationships/tableStyles" Target="/ppt/tableStyles.xml" Id="R0a7fdbe0a21f42b3" /><Relationship Type="http://schemas.openxmlformats.org/officeDocument/2006/relationships/slide" Target="/ppt/slides/slide1.xml" Id="R6d2a8b5488ee42db" /><Relationship Type="http://schemas.openxmlformats.org/officeDocument/2006/relationships/slide" Target="/ppt/slides/slide2.xml" Id="Ref059902df8349b0" /><Relationship Type="http://schemas.openxmlformats.org/officeDocument/2006/relationships/slide" Target="/ppt/slides/slide3.xml" Id="Re3d7e5c71fc7485c" /><Relationship Type="http://schemas.openxmlformats.org/officeDocument/2006/relationships/slide" Target="/ppt/slides/slide4.xml" Id="R41a52129d0c84c50" /><Relationship Type="http://schemas.openxmlformats.org/officeDocument/2006/relationships/slide" Target="/ppt/slides/slide5.xml" Id="R8b7880c53c9f45a6" /><Relationship Type="http://schemas.openxmlformats.org/officeDocument/2006/relationships/slide" Target="/ppt/slides/slide6.xml" Id="Re988b7767aa44a49" /><Relationship Type="http://schemas.openxmlformats.org/officeDocument/2006/relationships/slide" Target="/ppt/slides/slide7.xml" Id="Rbb70b558a5ac442a" /><Relationship Type="http://schemas.openxmlformats.org/officeDocument/2006/relationships/slide" Target="/ppt/slides/slide8.xml" Id="Rbb451b09c3bf4c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7b2aae604e46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2e0fcada5747b5" /><Relationship Type="http://schemas.openxmlformats.org/officeDocument/2006/relationships/notesMaster" Target="/ppt/notesMasters/notesMaster1.xml" Id="Ref604afb7c204e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700b92e57e44ef" /><Relationship Type="http://schemas.openxmlformats.org/officeDocument/2006/relationships/notesMaster" Target="/ppt/notesMasters/notesMaster1.xml" Id="Ra13691489df74d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72a7398d004119" /><Relationship Type="http://schemas.openxmlformats.org/officeDocument/2006/relationships/notesMaster" Target="/ppt/notesMasters/notesMaster1.xml" Id="R3cc14641946247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aa5b83b1b44cab" /><Relationship Type="http://schemas.openxmlformats.org/officeDocument/2006/relationships/notesMaster" Target="/ppt/notesMasters/notesMaster1.xml" Id="Rb67fe6c6fd4045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2d3efbd6a6435c" /><Relationship Type="http://schemas.openxmlformats.org/officeDocument/2006/relationships/notesMaster" Target="/ppt/notesMasters/notesMaster1.xml" Id="R702c2577097743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c12ce432934169" /><Relationship Type="http://schemas.openxmlformats.org/officeDocument/2006/relationships/notesMaster" Target="/ppt/notesMasters/notesMaster1.xml" Id="Rd40e06fbfd9d41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5acdfb65b44a7c" /><Relationship Type="http://schemas.openxmlformats.org/officeDocument/2006/relationships/notesMaster" Target="/ppt/notesMasters/notesMaster1.xml" Id="R995a2546576a46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673e57d846450a" /><Relationship Type="http://schemas.openxmlformats.org/officeDocument/2006/relationships/notesMaster" Target="/ppt/notesMasters/notesMaster1.xml" Id="R08d1c65e329e42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Completen la fecha antes de presentar.</a:t>
            </a:r>
          </a:p>
          <a:p xmlns:a="http://schemas.openxmlformats.org/drawingml/2006/main">
            <a:r>
              <a:t>Inicia un integrante presentando el equipo, la máquina o conjunto y el propósito de la defensa.</a:t>
            </a:r>
          </a:p>
          <a:p xmlns:a="http://schemas.openxmlformats.org/drawingml/2006/main">
            <a:r>
              <a:t>No lean la lista de integrantes: cada estudiante se identifica al comenzar su intervención.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Reemplacen los textos guía por información del informe entregado.</a:t>
            </a:r>
          </a:p>
          <a:p xmlns:a="http://schemas.openxmlformats.org/drawingml/2006/main">
            <a:r>
              <a:t>Usen una fotografía propia y legible, no una imagen decorativa de internet.</a:t>
            </a:r>
          </a:p>
          <a:p xmlns:a="http://schemas.openxmlformats.org/drawingml/2006/main">
            <a:r>
              <a:t>La explicación debe relacionar función, uso industrial y necesidad de mantenimiento.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Copien el objetivo general aprobado en el informe y reduzcan su extensión para la diapositiva.</a:t>
            </a:r>
          </a:p>
          <a:p xmlns:a="http://schemas.openxmlformats.org/drawingml/2006/main">
            <a:r>
              <a:t>Cada acción específica debe comenzar con un verbo técnico.</a:t>
            </a:r>
          </a:p>
          <a:p xmlns:a="http://schemas.openxmlformats.org/drawingml/2006/main">
            <a:r>
              <a:t>Definan antes del ensayo quién explica cada sección; todos deben intervenir.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Sinteticen el procedimiento: no copien el informe completo.</a:t>
            </a:r>
          </a:p>
          <a:p xmlns:a="http://schemas.openxmlformats.org/drawingml/2006/main">
            <a:r>
              <a:t>Usen verbos precisos: inspeccionar, desmontar, medir, limpiar, lubricar, ajustar, ensamblar.</a:t>
            </a:r>
          </a:p>
          <a:p xmlns:a="http://schemas.openxmlformats.org/drawingml/2006/main">
            <a:r>
              <a:t>Mencionen al menos un riesgo y la medida de control aplicada.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Usen fotografías del trabajo real del grupo.</a:t>
            </a:r>
          </a:p>
          <a:p xmlns:a="http://schemas.openxmlformats.org/drawingml/2006/main">
            <a:r>
              <a:t>Recorten la imagen para que el detalle relevante se vea con claridad.</a:t>
            </a:r>
          </a:p>
          <a:p xmlns:a="http://schemas.openxmlformats.org/drawingml/2006/main">
            <a:r>
              <a:t>No describan solo lo visible: relacionen cada foto con el procedimiento o diagnóstico.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diagnóstico no puede basarse solo en una opinión.</a:t>
            </a:r>
          </a:p>
          <a:p xmlns:a="http://schemas.openxmlformats.org/drawingml/2006/main">
            <a:r>
              <a:t>Cada hallazgo debe vincularse con una evidencia concreta y una causa técnicamente plausible.</a:t>
            </a:r>
          </a:p>
          <a:p xmlns:a="http://schemas.openxmlformats.org/drawingml/2006/main">
            <a:r>
              <a:t>Si no hubo una falla, expliquen qué condición se comprobó y con qué indicador.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Ordenen las medidas desde la más urgente hasta la preventiva.</a:t>
            </a:r>
          </a:p>
          <a:p xmlns:a="http://schemas.openxmlformats.org/drawingml/2006/main">
            <a:r>
              <a:t>Eviten recomendaciones generales como 'hacer mantenimiento'; indiquen acción, componente y propósito.</a:t>
            </a:r>
          </a:p>
          <a:p xmlns:a="http://schemas.openxmlformats.org/drawingml/2006/main">
            <a:r>
              <a:t>Justifiquen la propuesta con los hallazgos de la diapositiva anterior.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Cierren retomando el objetivo general y respondan si se cumplió.</a:t>
            </a:r>
          </a:p>
          <a:p xmlns:a="http://schemas.openxmlformats.org/drawingml/2006/main">
            <a:r>
              <a:t>No terminen con 'eso sería todo': formulen una recomendación concreta.</a:t>
            </a:r>
          </a:p>
          <a:p xmlns:a="http://schemas.openxmlformats.org/drawingml/2006/main">
            <a:r>
              <a:t>Durante las preguntas, quien conozca mejor la evidencia puede iniciar la respuesta y otro integrante puede complementarla.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1876fe52346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610b3d4ebe4a87" /><Relationship Type="http://schemas.openxmlformats.org/officeDocument/2006/relationships/slideLayout" Target="/ppt/slideLayouts/slideLayout1.xml" Id="R69eebe9157c74c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eebe9157c74c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ea15af22943c9" /><Relationship Type="http://schemas.openxmlformats.org/officeDocument/2006/relationships/image" Target="/ppt/media/image.bin" Id="Ra7a456909bad4ad0" /><Relationship Type="http://schemas.openxmlformats.org/officeDocument/2006/relationships/image" Target="/ppt/media/image.png" Id="R98ce255b246248ae" /><Relationship Type="http://schemas.openxmlformats.org/officeDocument/2006/relationships/notesSlide" Target="/ppt/notesSlides/notesSlide1.xml" Id="R33749c11ba7541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41a3f8c6348a4" /><Relationship Type="http://schemas.openxmlformats.org/officeDocument/2006/relationships/notesSlide" Target="/ppt/notesSlides/notesSlide2.xml" Id="R8d93a953d3e949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b7a17ba0e466a" /><Relationship Type="http://schemas.openxmlformats.org/officeDocument/2006/relationships/notesSlide" Target="/ppt/notesSlides/notesSlide3.xml" Id="Rbbb9fdc487af4f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83064a56347df" /><Relationship Type="http://schemas.openxmlformats.org/officeDocument/2006/relationships/notesSlide" Target="/ppt/notesSlides/notesSlide4.xml" Id="R69370c1aeb874e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1012123e541e0" /><Relationship Type="http://schemas.openxmlformats.org/officeDocument/2006/relationships/notesSlide" Target="/ppt/notesSlides/notesSlide5.xml" Id="R84b65649b29748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180a1f04d4710" /><Relationship Type="http://schemas.openxmlformats.org/officeDocument/2006/relationships/notesSlide" Target="/ppt/notesSlides/notesSlide6.xml" Id="R4f852ae3ca5d49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e96967f80401a" /><Relationship Type="http://schemas.openxmlformats.org/officeDocument/2006/relationships/notesSlide" Target="/ppt/notesSlides/notesSlide7.xml" Id="R63b413fbaf0046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812a6c19a49f5" /><Relationship Type="http://schemas.openxmlformats.org/officeDocument/2006/relationships/image" Target="/ppt/media/image2.bin" Id="Ra36eeb1c64fc4685" /><Relationship Type="http://schemas.openxmlformats.org/officeDocument/2006/relationships/notesSlide" Target="/ppt/notesSlides/notesSlide8.xml" Id="R262101dca5c744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ld-edge">
            <a:extLst xmlns:a="http://schemas.openxmlformats.org/drawingml/2006/main">
              <a:ext uri="{FF2B5EF4-FFF2-40B4-BE49-F238E27FC236}">
                <a16:creationId xmlns:a16="http://schemas.microsoft.com/office/drawing/2014/main" id="{D04D301B-12BE-42B7-8148-1EB67F58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456909bad4ad0"/>
          <a:stretch xmlns:a="http://schemas.openxmlformats.org/drawingml/2006/main"/>
        </p:blipFill>
        <p:spPr>
          <a:xfrm xmlns:a="http://schemas.openxmlformats.org/drawingml/2006/main">
            <a:off x="666750" y="5524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cest-frame">
            <a:extLst xmlns:a="http://schemas.openxmlformats.org/drawingml/2006/main">
              <a:ext uri="{FF2B5EF4-FFF2-40B4-BE49-F238E27FC236}">
                <a16:creationId xmlns:a16="http://schemas.microsoft.com/office/drawing/2014/main" id="{968B537E-2D44-4CCD-A451-2F4EDEF5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8150"/>
            <a:ext cx="1104900" cy="1276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e255b246248ae"/>
          <a:stretch xmlns:a="http://schemas.openxmlformats.org/drawingml/2006/main"/>
        </p:blipFill>
        <p:spPr>
          <a:xfrm xmlns:a="http://schemas.openxmlformats.org/drawingml/2006/main">
            <a:off x="10439400" y="571302"/>
            <a:ext cx="800100" cy="1010046"/>
          </a:xfrm>
          <a:prstGeom xmlns:a="http://schemas.openxmlformats.org/drawingml/2006/main" prst="rect">
            <a:avLst/>
          </a:prstGeom>
        </p:spPr>
      </p:pic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15CA9744-0ABB-4C11-B567-449C49F5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DEFENSA TÉCNICA ORAL</a:t>
            </a:r>
          </a:p>
        </p:txBody>
      </p:sp>
      <p:sp>
        <p:nvSpPr>
          <p:cNvPr id="6" name="group-topic">
            <a:extLst xmlns:a="http://schemas.openxmlformats.org/drawingml/2006/main">
              <a:ext uri="{FF2B5EF4-FFF2-40B4-BE49-F238E27FC236}">
                <a16:creationId xmlns:a16="http://schemas.microsoft.com/office/drawing/2014/main" id="{F1DABA02-EEF8-43B0-BB5F-21616CAD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C235"/>
                </a:solidFill>
              </a:defRPr>
            </a:pPr>
            <a:r>
              <a:rPr sz="2325" b="1">
                <a:solidFill>
                  <a:srgbClr val="F5C235"/>
                </a:solidFill>
              </a:rPr>
              <a:t>Bomba centrífuga multietapa</a:t>
            </a:r>
          </a:p>
        </p:txBody>
      </p:sp>
      <p:sp>
        <p:nvSpPr>
          <p:cNvPr id="7" name="group-id">
            <a:extLst xmlns:a="http://schemas.openxmlformats.org/drawingml/2006/main">
              <a:ext uri="{FF2B5EF4-FFF2-40B4-BE49-F238E27FC236}">
                <a16:creationId xmlns:a16="http://schemas.microsoft.com/office/drawing/2014/main" id="{4EA2A366-E568-47DB-84ED-27A07F4B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Grupo 7</a:t>
            </a:r>
          </a:p>
        </p:txBody>
      </p:sp>
      <p:sp>
        <p:nvSpPr>
          <p:cNvPr id="8" name="group-members">
            <a:extLst xmlns:a="http://schemas.openxmlformats.org/drawingml/2006/main">
              <a:ext uri="{FF2B5EF4-FFF2-40B4-BE49-F238E27FC236}">
                <a16:creationId xmlns:a16="http://schemas.microsoft.com/office/drawing/2014/main" id="{94CCC8AF-53EF-4837-A32F-037ABCE6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971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F6"/>
                </a:solidFill>
              </a:defRPr>
            </a:pPr>
            <a:r>
              <a:rPr sz="1350" b="0">
                <a:solidFill>
                  <a:srgbClr val="DCE6F6"/>
                </a:solidFill>
              </a:rPr>
              <a:t>Pablo Bascur Lagos · Kevin Martínez Jara · Joaquín Barrios Saavedra · Erick Herrera Muñoz · Matías Hernández Aguilera · Alejandro Chamorro Rojas</a:t>
            </a:r>
          </a:p>
        </p:txBody>
      </p:sp>
      <p:sp>
        <p:nvSpPr>
          <p:cNvPr id="9" name="institution">
            <a:extLst xmlns:a="http://schemas.openxmlformats.org/drawingml/2006/main">
              <a:ext uri="{FF2B5EF4-FFF2-40B4-BE49-F238E27FC236}">
                <a16:creationId xmlns:a16="http://schemas.microsoft.com/office/drawing/2014/main" id="{A8915B96-8258-44D9-B38A-3C6EA2E7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DA"/>
                </a:solidFill>
              </a:defRPr>
            </a:pPr>
            <a:r>
              <a:rPr sz="975" b="0">
                <a:solidFill>
                  <a:srgbClr val="AFC0DA"/>
                </a:solidFill>
              </a:rPr>
              <a:t>Centro Educativo Salesianos Talca · Lengua y Literatura / Mecánica Industrial · 2026</a:t>
            </a:r>
          </a:p>
        </p:txBody>
      </p:sp>
    </p:spTree>
    <p:extLst>
      <p:ext uri="{BB962C8B-B14F-4D97-AF65-F5344CB8AC3E}">
        <p14:creationId xmlns:p14="http://schemas.microsoft.com/office/powerpoint/2010/main" val="1939172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2">
            <a:extLst xmlns:a="http://schemas.openxmlformats.org/drawingml/2006/main">
              <a:ext uri="{FF2B5EF4-FFF2-40B4-BE49-F238E27FC236}">
                <a16:creationId xmlns:a16="http://schemas.microsoft.com/office/drawing/2014/main" id="{2B3F1AD6-4FF5-4D1D-97F5-4AEDDD41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01 · CONTEXTO TÉCNICO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DB77BEE-76E2-4DA3-A7F9-F36BE995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conjunto cumple una función necesaria en el sistema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57894FDF-62B4-4BBD-8E48-CB4730F8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machine-photo">
            <a:extLst xmlns:a="http://schemas.openxmlformats.org/drawingml/2006/main">
              <a:ext uri="{FF2B5EF4-FFF2-40B4-BE49-F238E27FC236}">
                <a16:creationId xmlns:a16="http://schemas.microsoft.com/office/drawing/2014/main" id="{70841964-24D2-44B3-AC9D-15D7BC06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47434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machine-photo-label">
            <a:extLst xmlns:a="http://schemas.openxmlformats.org/drawingml/2006/main">
              <a:ext uri="{FF2B5EF4-FFF2-40B4-BE49-F238E27FC236}">
                <a16:creationId xmlns:a16="http://schemas.microsoft.com/office/drawing/2014/main" id="{FD4032F9-01BE-41F1-A34C-1181691F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528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INSERTAR FOTO REAL DE LA MÁQUINA O CONJUNTO</a:t>
            </a:r>
          </a:p>
        </p:txBody>
      </p:sp>
      <p:sp>
        <p:nvSpPr>
          <p:cNvPr id="6" name="equipment-label">
            <a:extLst xmlns:a="http://schemas.openxmlformats.org/drawingml/2006/main">
              <a:ext uri="{FF2B5EF4-FFF2-40B4-BE49-F238E27FC236}">
                <a16:creationId xmlns:a16="http://schemas.microsoft.com/office/drawing/2014/main" id="{3FDC8E56-F3D3-479D-90B8-0966C55F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EQUIPO O CONJUNTO</a:t>
            </a:r>
          </a:p>
        </p:txBody>
      </p:sp>
      <p:sp>
        <p:nvSpPr>
          <p:cNvPr id="7" name="equipment">
            <a:extLst xmlns:a="http://schemas.openxmlformats.org/drawingml/2006/main">
              <a:ext uri="{FF2B5EF4-FFF2-40B4-BE49-F238E27FC236}">
                <a16:creationId xmlns:a16="http://schemas.microsoft.com/office/drawing/2014/main" id="{51D2E14A-78BA-4BB4-B9D3-1CFB88F4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Bomba centrífuga multietapa</a:t>
            </a:r>
          </a:p>
        </p:txBody>
      </p:sp>
      <p:sp>
        <p:nvSpPr>
          <p:cNvPr id="8" name="location-function-label">
            <a:extLst xmlns:a="http://schemas.openxmlformats.org/drawingml/2006/main">
              <a:ext uri="{FF2B5EF4-FFF2-40B4-BE49-F238E27FC236}">
                <a16:creationId xmlns:a16="http://schemas.microsoft.com/office/drawing/2014/main" id="{9196A414-8D88-40A3-8DBF-3BFC90A6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UBICACIÓN Y FUNCIÓN</a:t>
            </a:r>
          </a:p>
        </p:txBody>
      </p:sp>
      <p:sp>
        <p:nvSpPr>
          <p:cNvPr id="9" name="location-function">
            <a:extLst xmlns:a="http://schemas.openxmlformats.org/drawingml/2006/main">
              <a:ext uri="{FF2B5EF4-FFF2-40B4-BE49-F238E27FC236}">
                <a16:creationId xmlns:a16="http://schemas.microsoft.com/office/drawing/2014/main" id="{3214C700-FC5A-4554-B34E-56E4D258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Indiquen dónde se encuentra y qué función cumple dentro del sistema.</a:t>
            </a:r>
          </a:p>
        </p:txBody>
      </p:sp>
      <p:sp>
        <p:nvSpPr>
          <p:cNvPr id="10" name="maintenance-importance-label">
            <a:extLst xmlns:a="http://schemas.openxmlformats.org/drawingml/2006/main">
              <a:ext uri="{FF2B5EF4-FFF2-40B4-BE49-F238E27FC236}">
                <a16:creationId xmlns:a16="http://schemas.microsoft.com/office/drawing/2014/main" id="{F2A8B08C-6D09-4A99-90E4-88FFF7AD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IMPORTANCIA DEL MANTENIMIENTO</a:t>
            </a:r>
          </a:p>
        </p:txBody>
      </p:sp>
      <p:sp>
        <p:nvSpPr>
          <p:cNvPr id="11" name="maintenance-importance">
            <a:extLst xmlns:a="http://schemas.openxmlformats.org/drawingml/2006/main">
              <a:ext uri="{FF2B5EF4-FFF2-40B4-BE49-F238E27FC236}">
                <a16:creationId xmlns:a16="http://schemas.microsoft.com/office/drawing/2014/main" id="{F9D04CB9-9AEE-4E50-B1D1-0CAB5334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71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Expliquen qué podría ocurrir si el componente trabaja con desgaste, desajuste o lubricación deficiente.</a:t>
            </a:r>
          </a:p>
        </p:txBody>
      </p:sp>
      <p:sp>
        <p:nvSpPr>
          <p:cNvPr id="12" name="footer-2">
            <a:extLst xmlns:a="http://schemas.openxmlformats.org/drawingml/2006/main">
              <a:ext uri="{FF2B5EF4-FFF2-40B4-BE49-F238E27FC236}">
                <a16:creationId xmlns:a16="http://schemas.microsoft.com/office/drawing/2014/main" id="{A6A9F292-7884-4B0E-A26A-ADF3CA92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3" name="footer-text-2">
            <a:extLst xmlns:a="http://schemas.openxmlformats.org/drawingml/2006/main">
              <a:ext uri="{FF2B5EF4-FFF2-40B4-BE49-F238E27FC236}">
                <a16:creationId xmlns:a16="http://schemas.microsoft.com/office/drawing/2014/main" id="{2E346B11-1B15-46BB-BC40-172475CC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14" name="page-2">
            <a:extLst xmlns:a="http://schemas.openxmlformats.org/drawingml/2006/main">
              <a:ext uri="{FF2B5EF4-FFF2-40B4-BE49-F238E27FC236}">
                <a16:creationId xmlns:a16="http://schemas.microsoft.com/office/drawing/2014/main" id="{345822CC-D8D8-44D5-81EC-860C6066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68816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3">
            <a:extLst xmlns:a="http://schemas.openxmlformats.org/drawingml/2006/main">
              <a:ext uri="{FF2B5EF4-FFF2-40B4-BE49-F238E27FC236}">
                <a16:creationId xmlns:a16="http://schemas.microsoft.com/office/drawing/2014/main" id="{909AB63D-BBA2-47A2-BDD0-BACD188D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02 · OBJETIVOS Y RESPONSABILIDADES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C9F1B15-AFB3-402C-9491-38B6B0CB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intervención tuvo un propósito verificable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1D757DFC-CB8D-4F85-8440-C68F6C7B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general-objective">
            <a:extLst xmlns:a="http://schemas.openxmlformats.org/drawingml/2006/main">
              <a:ext uri="{FF2B5EF4-FFF2-40B4-BE49-F238E27FC236}">
                <a16:creationId xmlns:a16="http://schemas.microsoft.com/office/drawing/2014/main" id="{A6936F29-4510-4DD2-9EBB-4B977C0E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FD0EC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05F1595-9AC4-42DD-8B2F-F91A2704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OBJETIVO GENERAL</a:t>
            </a:r>
          </a:p>
        </p:txBody>
      </p:sp>
      <p:sp>
        <p:nvSpPr>
          <p:cNvPr id="6" name="objective-copy">
            <a:extLst xmlns:a="http://schemas.openxmlformats.org/drawingml/2006/main">
              <a:ext uri="{FF2B5EF4-FFF2-40B4-BE49-F238E27FC236}">
                <a16:creationId xmlns:a16="http://schemas.microsoft.com/office/drawing/2014/main" id="{AB052363-5DA1-49E9-82BF-3240964B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Redacten una acción principal que indique qué se inspeccionó, mantuvo o diagnosticó y para qué.</a:t>
            </a:r>
          </a:p>
        </p:txBody>
      </p:sp>
      <p:sp>
        <p:nvSpPr>
          <p:cNvPr id="7" name="action-1">
            <a:extLst xmlns:a="http://schemas.openxmlformats.org/drawingml/2006/main">
              <a:ext uri="{FF2B5EF4-FFF2-40B4-BE49-F238E27FC236}">
                <a16:creationId xmlns:a16="http://schemas.microsoft.com/office/drawing/2014/main" id="{20B98F32-6DE4-4130-8E22-0DF56E72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AF2A47D-C397-4D9A-BA1C-459E4833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DAE43D2-2456-4919-B076-9A7B11D4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Acción técnica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6195F1A-761C-4160-93D4-B135CC7D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operación concreta realizaron?</a:t>
            </a:r>
          </a:p>
        </p:txBody>
      </p:sp>
      <p:sp>
        <p:nvSpPr>
          <p:cNvPr id="11" name="action-2">
            <a:extLst xmlns:a="http://schemas.openxmlformats.org/drawingml/2006/main">
              <a:ext uri="{FF2B5EF4-FFF2-40B4-BE49-F238E27FC236}">
                <a16:creationId xmlns:a16="http://schemas.microsoft.com/office/drawing/2014/main" id="{283D9D39-AB54-4F48-A015-F6027784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1562B9C-47EC-4075-81CD-284D3D77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31B9E46-5ABA-4FF2-9401-1FA3CEA3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Control y evidencia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900CC11-6940-4CE2-A1AC-B0FAAA90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midieron, observaron o registraron?</a:t>
            </a:r>
          </a:p>
        </p:txBody>
      </p:sp>
      <p:sp>
        <p:nvSpPr>
          <p:cNvPr id="15" name="action-3">
            <a:extLst xmlns:a="http://schemas.openxmlformats.org/drawingml/2006/main">
              <a:ext uri="{FF2B5EF4-FFF2-40B4-BE49-F238E27FC236}">
                <a16:creationId xmlns:a16="http://schemas.microsoft.com/office/drawing/2014/main" id="{08A3809C-B0A5-4738-B73E-D948F76F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E1C28FF-CC76-4CEB-9C59-6A4396D3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BD4881F-84AE-478C-8DCB-53B404AC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Resultado esperado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5837B0E-AB67-458C-9ECA-C916DD1E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condición buscaban recuperar o comprobar?</a:t>
            </a:r>
          </a:p>
        </p:txBody>
      </p:sp>
      <p:sp>
        <p:nvSpPr>
          <p:cNvPr id="19" name="participation-note">
            <a:extLst xmlns:a="http://schemas.openxmlformats.org/drawingml/2006/main">
              <a:ext uri="{FF2B5EF4-FFF2-40B4-BE49-F238E27FC236}">
                <a16:creationId xmlns:a16="http://schemas.microsoft.com/office/drawing/2014/main" id="{156D050B-6AC2-4998-8E82-7A06C595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25C"/>
                </a:solidFill>
              </a:defRPr>
            </a:pPr>
            <a:r>
              <a:rPr sz="1350" b="1">
                <a:solidFill>
                  <a:srgbClr val="17825C"/>
                </a:solidFill>
              </a:rPr>
              <a:t>Distribución oral: asignen a cada integrante una sección que pueda explicar y defender.</a:t>
            </a:r>
          </a:p>
        </p:txBody>
      </p:sp>
      <p:sp>
        <p:nvSpPr>
          <p:cNvPr id="20" name="footer-3">
            <a:extLst xmlns:a="http://schemas.openxmlformats.org/drawingml/2006/main">
              <a:ext uri="{FF2B5EF4-FFF2-40B4-BE49-F238E27FC236}">
                <a16:creationId xmlns:a16="http://schemas.microsoft.com/office/drawing/2014/main" id="{D9CA81A6-EF7F-4A24-A79D-483059D0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21" name="footer-text-3">
            <a:extLst xmlns:a="http://schemas.openxmlformats.org/drawingml/2006/main">
              <a:ext uri="{FF2B5EF4-FFF2-40B4-BE49-F238E27FC236}">
                <a16:creationId xmlns:a16="http://schemas.microsoft.com/office/drawing/2014/main" id="{B47DB072-F764-49C8-A633-F1B55328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2" name="page-3">
            <a:extLst xmlns:a="http://schemas.openxmlformats.org/drawingml/2006/main">
              <a:ext uri="{FF2B5EF4-FFF2-40B4-BE49-F238E27FC236}">
                <a16:creationId xmlns:a16="http://schemas.microsoft.com/office/drawing/2014/main" id="{B2E76BE8-7C2B-4527-9D99-91C0966B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12432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4">
            <a:extLst xmlns:a="http://schemas.openxmlformats.org/drawingml/2006/main">
              <a:ext uri="{FF2B5EF4-FFF2-40B4-BE49-F238E27FC236}">
                <a16:creationId xmlns:a16="http://schemas.microsoft.com/office/drawing/2014/main" id="{5C2DCE3F-E57F-4DCE-929F-6CF7D841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03 · PROCEDIMIENTO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84DDC18-FAF7-493B-A3D4-9F53F56C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procedimiento siguió una secuencia segura y controlada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705ABC72-9476-43ED-9384-8594DD36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FAAC2259-A6CA-431B-B81F-543EE1B8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8CAE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47F190C-279C-4AA7-B34B-2DFBFD2F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E2459AF-D2AA-4035-B218-43B6E4A0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Inspección inicial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44A5940-387B-4FF0-8A8A-37DAA0F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Estado, riesgos y EPP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F350784-B731-4622-9DE8-B12A7A0D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6AD68969-AFA1-412F-8A66-457DB4C8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8DFACF8-635E-4CCC-B67D-79B8F764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C582750-7A04-4D71-889A-81FE3F83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Desarme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C22A14E-2479-4BAA-8074-322B5345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Orden, herramientas y piezas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AD2BB4C-CEAD-4391-AE34-9358A5C5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AD89E936-86B1-4B00-AA08-AAFDE7E6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A76FE53-CF7F-412C-B7F7-C000B867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61AA163-25B8-4594-9597-651ABE7D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Limpieza y medición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FA849A3-FBD3-4B7C-B9B7-ED0187D0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Evidencia y tolerancias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E00A214-3A3F-4059-B761-2E85DF26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19" name="step-4">
            <a:extLst xmlns:a="http://schemas.openxmlformats.org/drawingml/2006/main">
              <a:ext uri="{FF2B5EF4-FFF2-40B4-BE49-F238E27FC236}">
                <a16:creationId xmlns:a16="http://schemas.microsoft.com/office/drawing/2014/main" id="{3BE3F2A5-DE28-4CA1-B9F5-54669004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C6E5C27-CCEE-486D-8A34-CA73BF14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0162DE0-C43F-4D59-9ABC-355706EA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Reensamble y control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1F5A386-8808-443B-B210-AFF4B332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Ajuste y comprobación</a:t>
            </a:r>
          </a:p>
        </p:txBody>
      </p:sp>
      <p:sp>
        <p:nvSpPr>
          <p:cNvPr id="23" name="procedure-photo">
            <a:extLst xmlns:a="http://schemas.openxmlformats.org/drawingml/2006/main">
              <a:ext uri="{FF2B5EF4-FFF2-40B4-BE49-F238E27FC236}">
                <a16:creationId xmlns:a16="http://schemas.microsoft.com/office/drawing/2014/main" id="{71301DFE-C99C-40FC-9649-4C43E62F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8768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4" name="procedure-photo-label">
            <a:extLst xmlns:a="http://schemas.openxmlformats.org/drawingml/2006/main">
              <a:ext uri="{FF2B5EF4-FFF2-40B4-BE49-F238E27FC236}">
                <a16:creationId xmlns:a16="http://schemas.microsoft.com/office/drawing/2014/main" id="{E6133436-C5D6-4577-A447-FBFA0B25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INSERTAR FOTO DEL PROCEDIMIENTO MÁS RELEVANTE</a:t>
            </a:r>
          </a:p>
        </p:txBody>
      </p:sp>
      <p:sp>
        <p:nvSpPr>
          <p:cNvPr id="25" name="technical-decision-label">
            <a:extLst xmlns:a="http://schemas.openxmlformats.org/drawingml/2006/main">
              <a:ext uri="{FF2B5EF4-FFF2-40B4-BE49-F238E27FC236}">
                <a16:creationId xmlns:a16="http://schemas.microsoft.com/office/drawing/2014/main" id="{68E6306E-20D6-4698-9677-BC007E82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00500"/>
            <a:ext cx="563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DECISIÓN TÉCNICA CLAVE</a:t>
            </a:r>
          </a:p>
        </p:txBody>
      </p:sp>
      <p:sp>
        <p:nvSpPr>
          <p:cNvPr id="26" name="technical-decision">
            <a:extLst xmlns:a="http://schemas.openxmlformats.org/drawingml/2006/main">
              <a:ext uri="{FF2B5EF4-FFF2-40B4-BE49-F238E27FC236}">
                <a16:creationId xmlns:a16="http://schemas.microsoft.com/office/drawing/2014/main" id="{A2D3B7F8-C9D0-4006-B957-31CC8036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48150"/>
            <a:ext cx="5638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Expliquen una decisión tomada durante el procedimiento y qué evidencia la justificó.</a:t>
            </a:r>
          </a:p>
        </p:txBody>
      </p:sp>
      <p:sp>
        <p:nvSpPr>
          <p:cNvPr id="27" name="footer-4">
            <a:extLst xmlns:a="http://schemas.openxmlformats.org/drawingml/2006/main">
              <a:ext uri="{FF2B5EF4-FFF2-40B4-BE49-F238E27FC236}">
                <a16:creationId xmlns:a16="http://schemas.microsoft.com/office/drawing/2014/main" id="{A3119D51-1D77-4642-8E5A-9D2576C5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28" name="footer-text-4">
            <a:extLst xmlns:a="http://schemas.openxmlformats.org/drawingml/2006/main">
              <a:ext uri="{FF2B5EF4-FFF2-40B4-BE49-F238E27FC236}">
                <a16:creationId xmlns:a16="http://schemas.microsoft.com/office/drawing/2014/main" id="{5026ED66-09AE-4DC8-983B-E507D23F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9" name="page-4">
            <a:extLst xmlns:a="http://schemas.openxmlformats.org/drawingml/2006/main">
              <a:ext uri="{FF2B5EF4-FFF2-40B4-BE49-F238E27FC236}">
                <a16:creationId xmlns:a16="http://schemas.microsoft.com/office/drawing/2014/main" id="{213A32CF-F5F1-4CC1-8490-F4243B0E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87441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5">
            <a:extLst xmlns:a="http://schemas.openxmlformats.org/drawingml/2006/main">
              <a:ext uri="{FF2B5EF4-FFF2-40B4-BE49-F238E27FC236}">
                <a16:creationId xmlns:a16="http://schemas.microsoft.com/office/drawing/2014/main" id="{E5B6322F-6D34-420E-9355-24B2384C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04 · BANCO VISUAL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EA36DB7-50E8-4AF7-BD3C-C046222F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evidencia permite sostener el diagnóstico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4889868A-9794-431A-AE52-DBBA0E15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evidence-photo-1">
            <a:extLst xmlns:a="http://schemas.openxmlformats.org/drawingml/2006/main">
              <a:ext uri="{FF2B5EF4-FFF2-40B4-BE49-F238E27FC236}">
                <a16:creationId xmlns:a16="http://schemas.microsoft.com/office/drawing/2014/main" id="{14140994-25E1-4EDB-ADBB-9DA80627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evidence-photo-1-label">
            <a:extLst xmlns:a="http://schemas.openxmlformats.org/drawingml/2006/main">
              <a:ext uri="{FF2B5EF4-FFF2-40B4-BE49-F238E27FC236}">
                <a16:creationId xmlns:a16="http://schemas.microsoft.com/office/drawing/2014/main" id="{8EAFF6A7-1561-4CA3-A000-46B91B4C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1 · VISTA GENERAL</a:t>
            </a:r>
          </a:p>
        </p:txBody>
      </p:sp>
      <p:sp>
        <p:nvSpPr>
          <p:cNvPr id="6" name="caption-1">
            <a:extLst xmlns:a="http://schemas.openxmlformats.org/drawingml/2006/main">
              <a:ext uri="{FF2B5EF4-FFF2-40B4-BE49-F238E27FC236}">
                <a16:creationId xmlns:a16="http://schemas.microsoft.com/office/drawing/2014/main" id="{EC2DD1FE-7607-4E92-B33E-40CF2DBC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parte del sistema permite ubicar?</a:t>
            </a:r>
          </a:p>
        </p:txBody>
      </p:sp>
      <p:sp>
        <p:nvSpPr>
          <p:cNvPr id="7" name="evidence-photo-2">
            <a:extLst xmlns:a="http://schemas.openxmlformats.org/drawingml/2006/main">
              <a:ext uri="{FF2B5EF4-FFF2-40B4-BE49-F238E27FC236}">
                <a16:creationId xmlns:a16="http://schemas.microsoft.com/office/drawing/2014/main" id="{C5A95C37-EE56-4A2E-BAAB-F5E523A2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8" name="evidence-photo-2-label">
            <a:extLst xmlns:a="http://schemas.openxmlformats.org/drawingml/2006/main">
              <a:ext uri="{FF2B5EF4-FFF2-40B4-BE49-F238E27FC236}">
                <a16:creationId xmlns:a16="http://schemas.microsoft.com/office/drawing/2014/main" id="{308AAC7A-A4AD-42B1-B1A7-F6188E9B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2 · COMPONENTE</a:t>
            </a:r>
          </a:p>
        </p:txBody>
      </p:sp>
      <p:sp>
        <p:nvSpPr>
          <p:cNvPr id="9" name="caption-2">
            <a:extLst xmlns:a="http://schemas.openxmlformats.org/drawingml/2006/main">
              <a:ext uri="{FF2B5EF4-FFF2-40B4-BE49-F238E27FC236}">
                <a16:creationId xmlns:a16="http://schemas.microsoft.com/office/drawing/2014/main" id="{8077EC57-5A71-4205-9E00-E271C639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detalle técnico muestra?</a:t>
            </a:r>
          </a:p>
        </p:txBody>
      </p:sp>
      <p:sp>
        <p:nvSpPr>
          <p:cNvPr id="10" name="evidence-photo-3">
            <a:extLst xmlns:a="http://schemas.openxmlformats.org/drawingml/2006/main">
              <a:ext uri="{FF2B5EF4-FFF2-40B4-BE49-F238E27FC236}">
                <a16:creationId xmlns:a16="http://schemas.microsoft.com/office/drawing/2014/main" id="{BCB23B23-BF48-49E5-94AB-8DE41F20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1" name="evidence-photo-3-label">
            <a:extLst xmlns:a="http://schemas.openxmlformats.org/drawingml/2006/main">
              <a:ext uri="{FF2B5EF4-FFF2-40B4-BE49-F238E27FC236}">
                <a16:creationId xmlns:a16="http://schemas.microsoft.com/office/drawing/2014/main" id="{EDA33047-26DD-4E99-93D4-8FC6C4BB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3 · HALLAZGO</a:t>
            </a:r>
          </a:p>
        </p:txBody>
      </p:sp>
      <p:sp>
        <p:nvSpPr>
          <p:cNvPr id="12" name="caption-3">
            <a:extLst xmlns:a="http://schemas.openxmlformats.org/drawingml/2006/main">
              <a:ext uri="{FF2B5EF4-FFF2-40B4-BE49-F238E27FC236}">
                <a16:creationId xmlns:a16="http://schemas.microsoft.com/office/drawing/2014/main" id="{A05956CE-1952-41FE-A2B4-93885170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desgaste, daño o condición evidencia?</a:t>
            </a:r>
          </a:p>
        </p:txBody>
      </p:sp>
      <p:sp>
        <p:nvSpPr>
          <p:cNvPr id="13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F5190554-9BAF-42E7-BC10-79002AF2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E9D388"/>
            </a:solidFill>
            <a:prstDash val="solid"/>
          </a:ln>
        </p:spPr>
      </p:sp>
      <p:sp>
        <p:nvSpPr>
          <p:cNvPr id="14" name="evidence-instruction">
            <a:extLst xmlns:a="http://schemas.openxmlformats.org/drawingml/2006/main">
              <a:ext uri="{FF2B5EF4-FFF2-40B4-BE49-F238E27FC236}">
                <a16:creationId xmlns:a16="http://schemas.microsoft.com/office/drawing/2014/main" id="{D195D62C-4AFA-4FF2-A203-50FB318B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5414"/>
                </a:solidFill>
              </a:defRPr>
            </a:pPr>
            <a:r>
              <a:rPr sz="1350" b="1">
                <a:solidFill>
                  <a:srgbClr val="705414"/>
                </a:solidFill>
              </a:rPr>
              <a:t>Cada imagen debe tener una explicación oral: qué muestra, por qué importa y qué conclusión permite sostener.</a:t>
            </a:r>
          </a:p>
        </p:txBody>
      </p:sp>
      <p:sp>
        <p:nvSpPr>
          <p:cNvPr id="15" name="footer-5">
            <a:extLst xmlns:a="http://schemas.openxmlformats.org/drawingml/2006/main">
              <a:ext uri="{FF2B5EF4-FFF2-40B4-BE49-F238E27FC236}">
                <a16:creationId xmlns:a16="http://schemas.microsoft.com/office/drawing/2014/main" id="{C89F4CDD-9AD6-48D3-A32E-5A41728D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6" name="footer-text-5">
            <a:extLst xmlns:a="http://schemas.openxmlformats.org/drawingml/2006/main">
              <a:ext uri="{FF2B5EF4-FFF2-40B4-BE49-F238E27FC236}">
                <a16:creationId xmlns:a16="http://schemas.microsoft.com/office/drawing/2014/main" id="{CE901D43-BFA7-404C-8FBC-47F6327F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17" name="page-5">
            <a:extLst xmlns:a="http://schemas.openxmlformats.org/drawingml/2006/main">
              <a:ext uri="{FF2B5EF4-FFF2-40B4-BE49-F238E27FC236}">
                <a16:creationId xmlns:a16="http://schemas.microsoft.com/office/drawing/2014/main" id="{8516E42E-4FE4-4C51-9B8F-23C20284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85741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-6">
            <a:extLst xmlns:a="http://schemas.openxmlformats.org/drawingml/2006/main">
              <a:ext uri="{FF2B5EF4-FFF2-40B4-BE49-F238E27FC236}">
                <a16:creationId xmlns:a16="http://schemas.microsoft.com/office/drawing/2014/main" id="{8017AFBA-8285-4D3C-B3E0-B811CA4D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05 · RESULTADOS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B441A02-5477-41CA-9292-46F1EC80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diagnóstico conecta hallazgo, causa y consecuencia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6A157BC6-A99E-49CC-897B-14832864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head-HALLAZGO">
            <a:extLst xmlns:a="http://schemas.openxmlformats.org/drawingml/2006/main">
              <a:ext uri="{FF2B5EF4-FFF2-40B4-BE49-F238E27FC236}">
                <a16:creationId xmlns:a16="http://schemas.microsoft.com/office/drawing/2014/main" id="{F18781C2-3F02-4346-970A-ED838B0A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9B31B2C-2505-4DBD-9F03-CE4AA6EA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HALLAZGO</a:t>
            </a:r>
          </a:p>
        </p:txBody>
      </p:sp>
      <p:sp>
        <p:nvSpPr>
          <p:cNvPr id="6" name="head-EVIDENCIA">
            <a:extLst xmlns:a="http://schemas.openxmlformats.org/drawingml/2006/main">
              <a:ext uri="{FF2B5EF4-FFF2-40B4-BE49-F238E27FC236}">
                <a16:creationId xmlns:a16="http://schemas.microsoft.com/office/drawing/2014/main" id="{ACD924FD-5490-42E4-B453-69908D87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335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E860814-C71D-4177-9D36-D51EA97C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859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EVIDENCIA</a:t>
            </a:r>
          </a:p>
        </p:txBody>
      </p:sp>
      <p:sp>
        <p:nvSpPr>
          <p:cNvPr id="8" name="head-CAUSA PROBABLE">
            <a:extLst xmlns:a="http://schemas.openxmlformats.org/drawingml/2006/main">
              <a:ext uri="{FF2B5EF4-FFF2-40B4-BE49-F238E27FC236}">
                <a16:creationId xmlns:a16="http://schemas.microsoft.com/office/drawing/2014/main" id="{F6191B86-9809-4991-8B59-887ACBB0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335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D37DF79-6080-492E-A550-8E97D7DD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859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CAUSA PROBABLE</a:t>
            </a:r>
          </a:p>
        </p:txBody>
      </p:sp>
      <p:sp>
        <p:nvSpPr>
          <p:cNvPr id="10" name="head-RIESGO O EFECTO">
            <a:extLst xmlns:a="http://schemas.openxmlformats.org/drawingml/2006/main">
              <a:ext uri="{FF2B5EF4-FFF2-40B4-BE49-F238E27FC236}">
                <a16:creationId xmlns:a16="http://schemas.microsoft.com/office/drawing/2014/main" id="{139FA127-2F8B-4A8D-8A10-5A547D83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9D1D959-4EC6-4A69-8584-8258A50C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RIESGO O EFECTO</a:t>
            </a:r>
          </a:p>
        </p:txBody>
      </p:sp>
      <p:sp>
        <p:nvSpPr>
          <p:cNvPr id="12" name="cell-0-0">
            <a:extLst xmlns:a="http://schemas.openxmlformats.org/drawingml/2006/main">
              <a:ext uri="{FF2B5EF4-FFF2-40B4-BE49-F238E27FC236}">
                <a16:creationId xmlns:a16="http://schemas.microsoft.com/office/drawing/2014/main" id="{A9E0AEDF-BE0F-4732-A5EF-D5CB2D02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4908AAB-FFC9-4B76-A6CC-74A166FE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Condición observada</a:t>
            </a:r>
          </a:p>
        </p:txBody>
      </p:sp>
      <p:sp>
        <p:nvSpPr>
          <p:cNvPr id="14" name="cell-0-1">
            <a:extLst xmlns:a="http://schemas.openxmlformats.org/drawingml/2006/main">
              <a:ext uri="{FF2B5EF4-FFF2-40B4-BE49-F238E27FC236}">
                <a16:creationId xmlns:a16="http://schemas.microsoft.com/office/drawing/2014/main" id="{B5DBEF72-D674-47FB-8519-7B5EDEB2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479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3463D9C-65A0-4B6A-A069-81F95FC0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955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Foto, medición o prueba</a:t>
            </a:r>
          </a:p>
        </p:txBody>
      </p:sp>
      <p:sp>
        <p:nvSpPr>
          <p:cNvPr id="16" name="cell-0-2">
            <a:extLst xmlns:a="http://schemas.openxmlformats.org/drawingml/2006/main">
              <a:ext uri="{FF2B5EF4-FFF2-40B4-BE49-F238E27FC236}">
                <a16:creationId xmlns:a16="http://schemas.microsoft.com/office/drawing/2014/main" id="{C22829EB-C66A-4781-AAF3-71054E6B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479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A7B6A6C-B66A-4D68-ABEF-2320682C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955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Explicación técnica</a:t>
            </a:r>
          </a:p>
        </p:txBody>
      </p:sp>
      <p:sp>
        <p:nvSpPr>
          <p:cNvPr id="18" name="cell-0-3">
            <a:extLst xmlns:a="http://schemas.openxmlformats.org/drawingml/2006/main">
              <a:ext uri="{FF2B5EF4-FFF2-40B4-BE49-F238E27FC236}">
                <a16:creationId xmlns:a16="http://schemas.microsoft.com/office/drawing/2014/main" id="{DFCBD6BD-CCA7-4A72-8E83-55530E66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479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2C64000-29DD-42D7-AD60-C15B48E3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955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Efecto en operación o seguridad</a:t>
            </a:r>
          </a:p>
        </p:txBody>
      </p:sp>
      <p:sp>
        <p:nvSpPr>
          <p:cNvPr id="20" name="cell-1-0">
            <a:extLst xmlns:a="http://schemas.openxmlformats.org/drawingml/2006/main">
              <a:ext uri="{FF2B5EF4-FFF2-40B4-BE49-F238E27FC236}">
                <a16:creationId xmlns:a16="http://schemas.microsoft.com/office/drawing/2014/main" id="{2571C785-B596-4059-B680-D53B6F49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8F59397-B953-498A-845C-9001C7F3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2" name="cell-1-1">
            <a:extLst xmlns:a="http://schemas.openxmlformats.org/drawingml/2006/main">
              <a:ext uri="{FF2B5EF4-FFF2-40B4-BE49-F238E27FC236}">
                <a16:creationId xmlns:a16="http://schemas.microsoft.com/office/drawing/2014/main" id="{6B912171-9DEF-4D1A-8133-63B92E77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B1C6AF0-F372-45F6-ABA4-62CB14A0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4" name="cell-1-2">
            <a:extLst xmlns:a="http://schemas.openxmlformats.org/drawingml/2006/main">
              <a:ext uri="{FF2B5EF4-FFF2-40B4-BE49-F238E27FC236}">
                <a16:creationId xmlns:a16="http://schemas.microsoft.com/office/drawing/2014/main" id="{10D5FBD3-4136-465D-AC42-178C63FE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147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B515EF6-D168-4471-B9C0-F54A01D0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623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6" name="cell-1-3">
            <a:extLst xmlns:a="http://schemas.openxmlformats.org/drawingml/2006/main">
              <a:ext uri="{FF2B5EF4-FFF2-40B4-BE49-F238E27FC236}">
                <a16:creationId xmlns:a16="http://schemas.microsoft.com/office/drawing/2014/main" id="{80D53580-E460-4237-8320-77B4D462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147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E56DEDD-DBCF-4B86-8D23-DF9BB208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8" name="cell-2-0">
            <a:extLst xmlns:a="http://schemas.openxmlformats.org/drawingml/2006/main">
              <a:ext uri="{FF2B5EF4-FFF2-40B4-BE49-F238E27FC236}">
                <a16:creationId xmlns:a16="http://schemas.microsoft.com/office/drawing/2014/main" id="{E3EF2736-73FD-423C-AF34-24B61F78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8EF2109-6F26-42DA-8575-82E344AE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0" name="cell-2-1">
            <a:extLst xmlns:a="http://schemas.openxmlformats.org/drawingml/2006/main">
              <a:ext uri="{FF2B5EF4-FFF2-40B4-BE49-F238E27FC236}">
                <a16:creationId xmlns:a16="http://schemas.microsoft.com/office/drawing/2014/main" id="{499C59CC-9169-49BA-99AB-FBCF9C74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815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E4779813-09C3-4C48-BFB7-DCA8C8A0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291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2" name="cell-2-2">
            <a:extLst xmlns:a="http://schemas.openxmlformats.org/drawingml/2006/main">
              <a:ext uri="{FF2B5EF4-FFF2-40B4-BE49-F238E27FC236}">
                <a16:creationId xmlns:a16="http://schemas.microsoft.com/office/drawing/2014/main" id="{C0D75B56-CCC7-48CC-826B-5CE1A7B3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815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47B33301-C178-4F9B-AF4B-B02B88B1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291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4" name="cell-2-3">
            <a:extLst xmlns:a="http://schemas.openxmlformats.org/drawingml/2006/main">
              <a:ext uri="{FF2B5EF4-FFF2-40B4-BE49-F238E27FC236}">
                <a16:creationId xmlns:a16="http://schemas.microsoft.com/office/drawing/2014/main" id="{B27FB262-3D31-4974-9BE5-B9586B85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815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213FDA94-5231-47C6-BFBE-597840DB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6" name="diagnostic-conclusion">
            <a:extLst xmlns:a="http://schemas.openxmlformats.org/drawingml/2006/main">
              <a:ext uri="{FF2B5EF4-FFF2-40B4-BE49-F238E27FC236}">
                <a16:creationId xmlns:a16="http://schemas.microsoft.com/office/drawing/2014/main" id="{401350D3-A1E0-4D45-8B10-99DAF78E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25C"/>
                </a:solidFill>
              </a:defRPr>
            </a:pPr>
            <a:r>
              <a:rPr sz="1425" b="1">
                <a:solidFill>
                  <a:srgbClr val="17825C"/>
                </a:solidFill>
              </a:rPr>
              <a:t>Conclusión diagnóstica: formulen una afirmación respaldada por los datos anteriores.</a:t>
            </a:r>
          </a:p>
        </p:txBody>
      </p:sp>
      <p:sp>
        <p:nvSpPr>
          <p:cNvPr id="37" name="footer-6">
            <a:extLst xmlns:a="http://schemas.openxmlformats.org/drawingml/2006/main">
              <a:ext uri="{FF2B5EF4-FFF2-40B4-BE49-F238E27FC236}">
                <a16:creationId xmlns:a16="http://schemas.microsoft.com/office/drawing/2014/main" id="{59EB118E-D303-4B31-966B-9338DB61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38" name="footer-text-6">
            <a:extLst xmlns:a="http://schemas.openxmlformats.org/drawingml/2006/main">
              <a:ext uri="{FF2B5EF4-FFF2-40B4-BE49-F238E27FC236}">
                <a16:creationId xmlns:a16="http://schemas.microsoft.com/office/drawing/2014/main" id="{924450EA-09CD-4162-9238-DF1C250E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39" name="page-6">
            <a:extLst xmlns:a="http://schemas.openxmlformats.org/drawingml/2006/main">
              <a:ext uri="{FF2B5EF4-FFF2-40B4-BE49-F238E27FC236}">
                <a16:creationId xmlns:a16="http://schemas.microsoft.com/office/drawing/2014/main" id="{E8A4C5AE-38D9-4705-B480-C3DA096C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58423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7">
            <a:extLst xmlns:a="http://schemas.openxmlformats.org/drawingml/2006/main">
              <a:ext uri="{FF2B5EF4-FFF2-40B4-BE49-F238E27FC236}">
                <a16:creationId xmlns:a16="http://schemas.microsoft.com/office/drawing/2014/main" id="{580937E9-4F3C-4972-943F-E3552F59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06 · PLAN DE ACCIÓN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922E1E4E-F170-4711-B6C5-B371AC7A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propuesta transforma el diagnóstico en mantenimiento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B1038802-AEDD-403B-96F3-1548AF8C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plan-1">
            <a:extLst xmlns:a="http://schemas.openxmlformats.org/drawingml/2006/main">
              <a:ext uri="{FF2B5EF4-FFF2-40B4-BE49-F238E27FC236}">
                <a16:creationId xmlns:a16="http://schemas.microsoft.com/office/drawing/2014/main" id="{5E026A9E-F802-426A-8666-046804AA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plan-accent-1">
            <a:extLst xmlns:a="http://schemas.openxmlformats.org/drawingml/2006/main">
              <a:ext uri="{FF2B5EF4-FFF2-40B4-BE49-F238E27FC236}">
                <a16:creationId xmlns:a16="http://schemas.microsoft.com/office/drawing/2014/main" id="{7CA6F305-681A-4AFD-B05E-58A5C88E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9525">
            <a:solidFill>
              <a:srgbClr val="0B5ED7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21E0E5B-A0BD-4B7C-AA43-DEE362C5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Acción inmediata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1639B4D-6280-4E17-9D96-B748209B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4310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se debe limpiar, ajustar, reemplazar, lubricar o comprobar?</a:t>
            </a:r>
          </a:p>
        </p:txBody>
      </p:sp>
      <p:sp>
        <p:nvSpPr>
          <p:cNvPr id="8" name="plan-2">
            <a:extLst xmlns:a="http://schemas.openxmlformats.org/drawingml/2006/main">
              <a:ext uri="{FF2B5EF4-FFF2-40B4-BE49-F238E27FC236}">
                <a16:creationId xmlns:a16="http://schemas.microsoft.com/office/drawing/2014/main" id="{46CE2077-E5A0-43D5-AE9F-FBEA85D8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9" name="plan-accent-2">
            <a:extLst xmlns:a="http://schemas.openxmlformats.org/drawingml/2006/main">
              <a:ext uri="{FF2B5EF4-FFF2-40B4-BE49-F238E27FC236}">
                <a16:creationId xmlns:a16="http://schemas.microsoft.com/office/drawing/2014/main" id="{8C09CB29-9042-43B8-B8D3-18CD2F69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25C"/>
          </a:solidFill>
          <a:ln xmlns:a="http://schemas.openxmlformats.org/drawingml/2006/main" w="9525">
            <a:solidFill>
              <a:srgbClr val="17825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DBBFDC4-5C13-4007-A5A9-8C166815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Prevención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700825D-1AFD-4335-B245-BDB847E3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5755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tarea periódica evitaría que el problema reaparezca?</a:t>
            </a:r>
          </a:p>
        </p:txBody>
      </p:sp>
      <p:sp>
        <p:nvSpPr>
          <p:cNvPr id="12" name="plan-3">
            <a:extLst xmlns:a="http://schemas.openxmlformats.org/drawingml/2006/main">
              <a:ext uri="{FF2B5EF4-FFF2-40B4-BE49-F238E27FC236}">
                <a16:creationId xmlns:a16="http://schemas.microsoft.com/office/drawing/2014/main" id="{870AA0B9-AA80-42F1-8EB7-FDD5DBD5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3" name="plan-accent-3">
            <a:extLst xmlns:a="http://schemas.openxmlformats.org/drawingml/2006/main">
              <a:ext uri="{FF2B5EF4-FFF2-40B4-BE49-F238E27FC236}">
                <a16:creationId xmlns:a16="http://schemas.microsoft.com/office/drawing/2014/main" id="{E4160357-30CA-446C-A7E2-A01489CD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040"/>
          </a:solidFill>
          <a:ln xmlns:a="http://schemas.openxmlformats.org/drawingml/2006/main" w="9525">
            <a:solidFill>
              <a:srgbClr val="B64040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2376877-C1E9-44EF-BC56-C0BA67CF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Seguridad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1EA8394-A9A9-4051-A339-7012FB13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7200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riesgo, EPP y control deben considerarse?</a:t>
            </a:r>
          </a:p>
        </p:txBody>
      </p:sp>
      <p:sp>
        <p:nvSpPr>
          <p:cNvPr id="16" name="feasibility">
            <a:extLst xmlns:a="http://schemas.openxmlformats.org/drawingml/2006/main">
              <a:ext uri="{FF2B5EF4-FFF2-40B4-BE49-F238E27FC236}">
                <a16:creationId xmlns:a16="http://schemas.microsoft.com/office/drawing/2014/main" id="{38BF5654-FC02-4432-A69F-2F8F1444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E9D38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9741024-EA29-4742-8A3E-A484E18B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05414"/>
                </a:solidFill>
              </a:defRPr>
            </a:pPr>
            <a:r>
              <a:rPr sz="1275" b="1">
                <a:solidFill>
                  <a:srgbClr val="705414"/>
                </a:solidFill>
              </a:rPr>
              <a:t>La recomendación debe ser viable para el taller y coherente con la evidencia presentada.</a:t>
            </a:r>
          </a:p>
        </p:txBody>
      </p:sp>
      <p:sp>
        <p:nvSpPr>
          <p:cNvPr id="18" name="footer-7">
            <a:extLst xmlns:a="http://schemas.openxmlformats.org/drawingml/2006/main">
              <a:ext uri="{FF2B5EF4-FFF2-40B4-BE49-F238E27FC236}">
                <a16:creationId xmlns:a16="http://schemas.microsoft.com/office/drawing/2014/main" id="{80CF9031-3A97-4F4E-9F83-37052696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9" name="footer-text-7">
            <a:extLst xmlns:a="http://schemas.openxmlformats.org/drawingml/2006/main">
              <a:ext uri="{FF2B5EF4-FFF2-40B4-BE49-F238E27FC236}">
                <a16:creationId xmlns:a16="http://schemas.microsoft.com/office/drawing/2014/main" id="{8B87C95B-7BF8-41DD-9324-4A138FE5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0" name="page-7">
            <a:extLst xmlns:a="http://schemas.openxmlformats.org/drawingml/2006/main">
              <a:ext uri="{FF2B5EF4-FFF2-40B4-BE49-F238E27FC236}">
                <a16:creationId xmlns:a16="http://schemas.microsoft.com/office/drawing/2014/main" id="{2E3A41EA-E234-4DCA-956E-9A0828E7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68824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4C4F75D5-D949-4570-A763-0141C346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intervención permite concluir y decidir</a:t>
            </a:r>
          </a:p>
        </p:txBody>
      </p:sp>
      <p:sp>
        <p:nvSpPr>
          <p:cNvPr id="2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B968F2C4-064D-4CCE-91AD-5BA9DC14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447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3" name="conclusion-1">
            <a:extLst xmlns:a="http://schemas.openxmlformats.org/drawingml/2006/main">
              <a:ext uri="{FF2B5EF4-FFF2-40B4-BE49-F238E27FC236}">
                <a16:creationId xmlns:a16="http://schemas.microsoft.com/office/drawing/2014/main" id="{834258AF-764A-4441-AF4D-E401E958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3366904-69A7-416D-893A-AABEC679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1 · Qué condición técnica comprobaron.</a:t>
            </a:r>
          </a:p>
        </p:txBody>
      </p:sp>
      <p:sp>
        <p:nvSpPr>
          <p:cNvPr id="5" name="conclusion-2">
            <a:extLst xmlns:a="http://schemas.openxmlformats.org/drawingml/2006/main">
              <a:ext uri="{FF2B5EF4-FFF2-40B4-BE49-F238E27FC236}">
                <a16:creationId xmlns:a16="http://schemas.microsoft.com/office/drawing/2014/main" id="{9F32BD18-EC13-470A-A5DC-F8994B28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D02FEEF-F2FE-4AB7-B548-0B61D8C0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2 · Qué evidencia fue decisiva para el diagnóstico.</a:t>
            </a:r>
          </a:p>
        </p:txBody>
      </p:sp>
      <p:sp>
        <p:nvSpPr>
          <p:cNvPr id="7" name="conclusion-3">
            <a:extLst xmlns:a="http://schemas.openxmlformats.org/drawingml/2006/main">
              <a:ext uri="{FF2B5EF4-FFF2-40B4-BE49-F238E27FC236}">
                <a16:creationId xmlns:a16="http://schemas.microsoft.com/office/drawing/2014/main" id="{15C1FB32-CAF1-4BCD-8460-63674ED5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E8851E1-C89F-4D24-BE15-B1B9C9DD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3 · Qué acción recomiendan y por qué.</a:t>
            </a:r>
          </a:p>
        </p:txBody>
      </p:sp>
      <p:sp>
        <p:nvSpPr>
          <p:cNvPr id="9" name="question-panel">
            <a:extLst xmlns:a="http://schemas.openxmlformats.org/drawingml/2006/main">
              <a:ext uri="{FF2B5EF4-FFF2-40B4-BE49-F238E27FC236}">
                <a16:creationId xmlns:a16="http://schemas.microsoft.com/office/drawing/2014/main" id="{5A4E3881-DD9A-42AB-9C9C-2A553D33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33550"/>
            <a:ext cx="327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eeb1c64fc4685"/>
          <a:stretch xmlns:a="http://schemas.openxmlformats.org/drawingml/2006/main"/>
        </p:blipFill>
        <p:spPr>
          <a:xfrm xmlns:a="http://schemas.openxmlformats.org/drawingml/2006/main">
            <a:off x="9315450" y="20383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22F0BF4-97E6-4B57-9770-C01520BC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D3F"/>
                </a:solidFill>
              </a:defRPr>
            </a:pPr>
            <a:r>
              <a:rPr sz="2400" b="1">
                <a:solidFill>
                  <a:srgbClr val="111D3F"/>
                </a:solidFill>
              </a:rPr>
              <a:t>Preguntas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3EDA9BD-8A12-4C0B-909D-615A3EA4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El equipo responde utilizando evidencia del informe y del trabajo realizado.</a:t>
            </a:r>
          </a:p>
        </p:txBody>
      </p:sp>
      <p:sp>
        <p:nvSpPr>
          <p:cNvPr id="13" name="final-callout">
            <a:extLst xmlns:a="http://schemas.openxmlformats.org/drawingml/2006/main">
              <a:ext uri="{FF2B5EF4-FFF2-40B4-BE49-F238E27FC236}">
                <a16:creationId xmlns:a16="http://schemas.microsoft.com/office/drawing/2014/main" id="{D9D4F061-5ECA-4335-A11F-84D01F04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C235"/>
                </a:solidFill>
              </a:defRPr>
            </a:pPr>
            <a:r>
              <a:rPr sz="1575" b="1">
                <a:solidFill>
                  <a:srgbClr val="F5C235"/>
                </a:solidFill>
              </a:rPr>
              <a:t>Defiendan las decisiones técnicas; no repitan de memoria.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20BFEDE-5BFC-4DCA-9061-3E07533C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DA"/>
                </a:solidFill>
              </a:defRPr>
            </a:pPr>
            <a:r>
              <a:rPr sz="975" b="0">
                <a:solidFill>
                  <a:srgbClr val="AFC0DA"/>
                </a:solidFill>
              </a:rPr>
              <a:t>Centro Educativo Salesianos Talca · 2026</a:t>
            </a:r>
          </a:p>
        </p:txBody>
      </p:sp>
    </p:spTree>
    <p:extLst>
      <p:ext uri="{BB962C8B-B14F-4D97-AF65-F5344CB8AC3E}">
        <p14:creationId xmlns:p14="http://schemas.microsoft.com/office/powerpoint/2010/main" val="1440870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2026-07-24T12:43:42.3040000Z</dcterms:created>
  <dcterms:modified xsi:type="dcterms:W3CDTF">2026-07-24T12:43:42.3040000Z</dcterms:modified>
</coreProperties>
</file>