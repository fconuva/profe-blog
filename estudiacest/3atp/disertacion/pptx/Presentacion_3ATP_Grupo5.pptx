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7aa4922f1642d8" /><Relationship Type="http://schemas.openxmlformats.org/officeDocument/2006/relationships/extended-properties" Target="/docProps/app.xml" Id="Rf99b012bfd854246" /><Relationship Type="http://schemas.openxmlformats.org/officeDocument/2006/relationships/officeDocument" Target="/ppt/presentation.xml" Id="Rdef18b87c26849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7b8ed752cd40df"/>
  </p:sldMasterIdLst>
  <p:notesMasterIdLst>
    <p:notesMasterId xmlns:r="http://schemas.openxmlformats.org/officeDocument/2006/relationships" r:id="Rfa7ffc59aacf40b1"/>
  </p:notesMasterIdLst>
  <p:sldIdLst>
    <p:sldId xmlns:r="http://schemas.openxmlformats.org/officeDocument/2006/relationships" id="256" r:id="R25d01220bb694c01"/>
    <p:sldId xmlns:r="http://schemas.openxmlformats.org/officeDocument/2006/relationships" id="257" r:id="R1cd529f4de0140a0"/>
    <p:sldId xmlns:r="http://schemas.openxmlformats.org/officeDocument/2006/relationships" id="258" r:id="R85cf1827cc184bd0"/>
    <p:sldId xmlns:r="http://schemas.openxmlformats.org/officeDocument/2006/relationships" id="259" r:id="R63b21b73ec2a4bbc"/>
    <p:sldId xmlns:r="http://schemas.openxmlformats.org/officeDocument/2006/relationships" id="260" r:id="Rcfd750dd347a4e30"/>
    <p:sldId xmlns:r="http://schemas.openxmlformats.org/officeDocument/2006/relationships" id="261" r:id="R4a91ae41424e44c6"/>
    <p:sldId xmlns:r="http://schemas.openxmlformats.org/officeDocument/2006/relationships" id="262" r:id="R7e10b658e1524c37"/>
    <p:sldId xmlns:r="http://schemas.openxmlformats.org/officeDocument/2006/relationships" id="263" r:id="R7baefceaca4146c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b18213a8e54b48" /><Relationship Type="http://schemas.openxmlformats.org/officeDocument/2006/relationships/slideMaster" Target="/ppt/slideMasters/slideMaster1.xml" Id="Re57b8ed752cd40df" /><Relationship Type="http://schemas.openxmlformats.org/officeDocument/2006/relationships/notesMaster" Target="/ppt/notesMasters/notesMaster1.xml" Id="Rfa7ffc59aacf40b1" /><Relationship Type="http://schemas.openxmlformats.org/officeDocument/2006/relationships/presProps" Target="/ppt/presProps.xml" Id="Radbf92653d654cfa" /><Relationship Type="http://schemas.openxmlformats.org/officeDocument/2006/relationships/tableStyles" Target="/ppt/tableStyles.xml" Id="Rda067af5e38d454a" /><Relationship Type="http://schemas.openxmlformats.org/officeDocument/2006/relationships/slide" Target="/ppt/slides/slide1.xml" Id="R25d01220bb694c01" /><Relationship Type="http://schemas.openxmlformats.org/officeDocument/2006/relationships/slide" Target="/ppt/slides/slide2.xml" Id="R1cd529f4de0140a0" /><Relationship Type="http://schemas.openxmlformats.org/officeDocument/2006/relationships/slide" Target="/ppt/slides/slide3.xml" Id="R85cf1827cc184bd0" /><Relationship Type="http://schemas.openxmlformats.org/officeDocument/2006/relationships/slide" Target="/ppt/slides/slide4.xml" Id="R63b21b73ec2a4bbc" /><Relationship Type="http://schemas.openxmlformats.org/officeDocument/2006/relationships/slide" Target="/ppt/slides/slide5.xml" Id="Rcfd750dd347a4e30" /><Relationship Type="http://schemas.openxmlformats.org/officeDocument/2006/relationships/slide" Target="/ppt/slides/slide6.xml" Id="R4a91ae41424e44c6" /><Relationship Type="http://schemas.openxmlformats.org/officeDocument/2006/relationships/slide" Target="/ppt/slides/slide7.xml" Id="R7e10b658e1524c37" /><Relationship Type="http://schemas.openxmlformats.org/officeDocument/2006/relationships/slide" Target="/ppt/slides/slide8.xml" Id="R7baefceaca4146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e3f6b54d9c43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f72b75760a4252" /><Relationship Type="http://schemas.openxmlformats.org/officeDocument/2006/relationships/notesMaster" Target="/ppt/notesMasters/notesMaster1.xml" Id="R8552638cbab642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96770a38eb4d69" /><Relationship Type="http://schemas.openxmlformats.org/officeDocument/2006/relationships/notesMaster" Target="/ppt/notesMasters/notesMaster1.xml" Id="Re6be4e5a99cb46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d1ac3bd54ee4d32" /><Relationship Type="http://schemas.openxmlformats.org/officeDocument/2006/relationships/notesMaster" Target="/ppt/notesMasters/notesMaster1.xml" Id="Rce6536fd333741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6d77ae173d4da8" /><Relationship Type="http://schemas.openxmlformats.org/officeDocument/2006/relationships/notesMaster" Target="/ppt/notesMasters/notesMaster1.xml" Id="R2559caa806034b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135afdc50b4da1" /><Relationship Type="http://schemas.openxmlformats.org/officeDocument/2006/relationships/notesMaster" Target="/ppt/notesMasters/notesMaster1.xml" Id="R7ca57fd060d64c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e5d03d2ccc458e" /><Relationship Type="http://schemas.openxmlformats.org/officeDocument/2006/relationships/notesMaster" Target="/ppt/notesMasters/notesMaster1.xml" Id="R4e8aed354b3948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ab0701c98e4f4e" /><Relationship Type="http://schemas.openxmlformats.org/officeDocument/2006/relationships/notesMaster" Target="/ppt/notesMasters/notesMaster1.xml" Id="R64e0ba5af53846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af3a4b52ee4214" /><Relationship Type="http://schemas.openxmlformats.org/officeDocument/2006/relationships/notesMaster" Target="/ppt/notesMasters/notesMaster1.xml" Id="R26b6b1483ae144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Completen la fecha antes de presentar.</a:t>
            </a:r>
          </a:p>
          <a:p xmlns:a="http://schemas.openxmlformats.org/drawingml/2006/main">
            <a:r>
              <a:t>Inicia un integrante presentando el equipo, la máquina o conjunto y el propósito de la defensa.</a:t>
            </a:r>
          </a:p>
          <a:p xmlns:a="http://schemas.openxmlformats.org/drawingml/2006/main">
            <a:r>
              <a:t>No lean la lista de integrantes: cada estudiante se identifica al comenzar su intervención.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Reemplacen los textos guía por información del informe entregado.</a:t>
            </a:r>
          </a:p>
          <a:p xmlns:a="http://schemas.openxmlformats.org/drawingml/2006/main">
            <a:r>
              <a:t>Usen una fotografía propia y legible, no una imagen decorativa de internet.</a:t>
            </a:r>
          </a:p>
          <a:p xmlns:a="http://schemas.openxmlformats.org/drawingml/2006/main">
            <a:r>
              <a:t>La explicación debe relacionar función, uso industrial y necesidad de mantenimiento.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Copien el objetivo general aprobado en el informe y reduzcan su extensión para la diapositiva.</a:t>
            </a:r>
          </a:p>
          <a:p xmlns:a="http://schemas.openxmlformats.org/drawingml/2006/main">
            <a:r>
              <a:t>Cada acción específica debe comenzar con un verbo técnico.</a:t>
            </a:r>
          </a:p>
          <a:p xmlns:a="http://schemas.openxmlformats.org/drawingml/2006/main">
            <a:r>
              <a:t>Definan antes del ensayo quién explica cada sección; todos deben intervenir.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Sinteticen el procedimiento: no copien el informe completo.</a:t>
            </a:r>
          </a:p>
          <a:p xmlns:a="http://schemas.openxmlformats.org/drawingml/2006/main">
            <a:r>
              <a:t>Usen verbos precisos: inspeccionar, desmontar, medir, limpiar, lubricar, ajustar, ensamblar.</a:t>
            </a:r>
          </a:p>
          <a:p xmlns:a="http://schemas.openxmlformats.org/drawingml/2006/main">
            <a:r>
              <a:t>Mencionen al menos un riesgo y la medida de control aplicada.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Usen fotografías del trabajo real del grupo.</a:t>
            </a:r>
          </a:p>
          <a:p xmlns:a="http://schemas.openxmlformats.org/drawingml/2006/main">
            <a:r>
              <a:t>Recorten la imagen para que el detalle relevante se vea con claridad.</a:t>
            </a:r>
          </a:p>
          <a:p xmlns:a="http://schemas.openxmlformats.org/drawingml/2006/main">
            <a:r>
              <a:t>No describan solo lo visible: relacionen cada foto con el procedimiento o diagnóstico.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diagnóstico no puede basarse solo en una opinión.</a:t>
            </a:r>
          </a:p>
          <a:p xmlns:a="http://schemas.openxmlformats.org/drawingml/2006/main">
            <a:r>
              <a:t>Cada hallazgo debe vincularse con una evidencia concreta y una causa técnicamente plausible.</a:t>
            </a:r>
          </a:p>
          <a:p xmlns:a="http://schemas.openxmlformats.org/drawingml/2006/main">
            <a:r>
              <a:t>Si no hubo una falla, expliquen qué condición se comprobó y con qué indicador.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Ordenen las medidas desde la más urgente hasta la preventiva.</a:t>
            </a:r>
          </a:p>
          <a:p xmlns:a="http://schemas.openxmlformats.org/drawingml/2006/main">
            <a:r>
              <a:t>Eviten recomendaciones generales como 'hacer mantenimiento'; indiquen acción, componente y propósito.</a:t>
            </a:r>
          </a:p>
          <a:p xmlns:a="http://schemas.openxmlformats.org/drawingml/2006/main">
            <a:r>
              <a:t>Justifiquen la propuesta con los hallazgos de la diapositiva anterior.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Cierren retomando el objetivo general y respondan si se cumplió.</a:t>
            </a:r>
          </a:p>
          <a:p xmlns:a="http://schemas.openxmlformats.org/drawingml/2006/main">
            <a:r>
              <a:t>No terminen con 'eso sería todo': formulen una recomendación concreta.</a:t>
            </a:r>
          </a:p>
          <a:p xmlns:a="http://schemas.openxmlformats.org/drawingml/2006/main">
            <a:r>
              <a:t>Durante las preguntas, quien conozca mejor la evidencia puede iniciar la respuesta y otro integrante puede complementarla.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498ce01b5b40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3e0f584b4e45d3" /><Relationship Type="http://schemas.openxmlformats.org/officeDocument/2006/relationships/slideLayout" Target="/ppt/slideLayouts/slideLayout1.xml" Id="R9d8c4318de274e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8c4318de274e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5b0aa28114880" /><Relationship Type="http://schemas.openxmlformats.org/officeDocument/2006/relationships/image" Target="/ppt/media/image.bin" Id="R956862d5729d4b9e" /><Relationship Type="http://schemas.openxmlformats.org/officeDocument/2006/relationships/image" Target="/ppt/media/image.png" Id="Rc79d0c5f8ba349c8" /><Relationship Type="http://schemas.openxmlformats.org/officeDocument/2006/relationships/notesSlide" Target="/ppt/notesSlides/notesSlide1.xml" Id="R14209427371a4d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c3dad408643d1" /><Relationship Type="http://schemas.openxmlformats.org/officeDocument/2006/relationships/notesSlide" Target="/ppt/notesSlides/notesSlide2.xml" Id="Rb0060c1cddd14e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3c7ee463f4d03" /><Relationship Type="http://schemas.openxmlformats.org/officeDocument/2006/relationships/notesSlide" Target="/ppt/notesSlides/notesSlide3.xml" Id="R00d45391689a4a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0f29c2ce64c08" /><Relationship Type="http://schemas.openxmlformats.org/officeDocument/2006/relationships/notesSlide" Target="/ppt/notesSlides/notesSlide4.xml" Id="Ra2212001a6b94f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9e0bd924047cb" /><Relationship Type="http://schemas.openxmlformats.org/officeDocument/2006/relationships/notesSlide" Target="/ppt/notesSlides/notesSlide5.xml" Id="R6a55ef82177842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9a11d8aab48ce" /><Relationship Type="http://schemas.openxmlformats.org/officeDocument/2006/relationships/notesSlide" Target="/ppt/notesSlides/notesSlide6.xml" Id="R09df3cb0a19541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6e3086af849be" /><Relationship Type="http://schemas.openxmlformats.org/officeDocument/2006/relationships/notesSlide" Target="/ppt/notesSlides/notesSlide7.xml" Id="Ra6e947a387264c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02b8f78074cc9" /><Relationship Type="http://schemas.openxmlformats.org/officeDocument/2006/relationships/image" Target="/ppt/media/image2.bin" Id="R536f434074534bba" /><Relationship Type="http://schemas.openxmlformats.org/officeDocument/2006/relationships/notesSlide" Target="/ppt/notesSlides/notesSlide8.xml" Id="R52d06234170e4f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D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ld-edge">
            <a:extLst xmlns:a="http://schemas.openxmlformats.org/drawingml/2006/main">
              <a:ext uri="{FF2B5EF4-FFF2-40B4-BE49-F238E27FC236}">
                <a16:creationId xmlns:a16="http://schemas.microsoft.com/office/drawing/2014/main" id="{5B9018BE-3982-4EFB-BAD6-9A3BC0FD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862d5729d4b9e"/>
          <a:stretch xmlns:a="http://schemas.openxmlformats.org/drawingml/2006/main"/>
        </p:blipFill>
        <p:spPr>
          <a:xfrm xmlns:a="http://schemas.openxmlformats.org/drawingml/2006/main">
            <a:off x="666750" y="552450"/>
            <a:ext cx="876300" cy="876300"/>
          </a:xfrm>
          <a:prstGeom xmlns:a="http://schemas.openxmlformats.org/drawingml/2006/main" prst="rect">
            <a:avLst/>
          </a:prstGeom>
        </p:spPr>
      </p:pic>
      <p:sp>
        <p:nvSpPr>
          <p:cNvPr id="3" name="cest-frame">
            <a:extLst xmlns:a="http://schemas.openxmlformats.org/drawingml/2006/main">
              <a:ext uri="{FF2B5EF4-FFF2-40B4-BE49-F238E27FC236}">
                <a16:creationId xmlns:a16="http://schemas.microsoft.com/office/drawing/2014/main" id="{61664B95-C8C4-4BD6-95D8-6F6F56BE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38150"/>
            <a:ext cx="1104900" cy="1276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9d0c5f8ba349c8"/>
          <a:stretch xmlns:a="http://schemas.openxmlformats.org/drawingml/2006/main"/>
        </p:blipFill>
        <p:spPr>
          <a:xfrm xmlns:a="http://schemas.openxmlformats.org/drawingml/2006/main">
            <a:off x="10439400" y="571302"/>
            <a:ext cx="800100" cy="1010046"/>
          </a:xfrm>
          <a:prstGeom xmlns:a="http://schemas.openxmlformats.org/drawingml/2006/main" prst="rect">
            <a:avLst/>
          </a:prstGeom>
        </p:spPr>
      </p:pic>
      <p:sp>
        <p:nvSpPr>
          <p:cNvPr id="5" name="deck-title">
            <a:extLst xmlns:a="http://schemas.openxmlformats.org/drawingml/2006/main">
              <a:ext uri="{FF2B5EF4-FFF2-40B4-BE49-F238E27FC236}">
                <a16:creationId xmlns:a16="http://schemas.microsoft.com/office/drawing/2014/main" id="{FF9AA105-C77A-412C-9D02-E773081A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DEFENSA TÉCNICA ORAL</a:t>
            </a:r>
          </a:p>
        </p:txBody>
      </p:sp>
      <p:sp>
        <p:nvSpPr>
          <p:cNvPr id="6" name="group-topic">
            <a:extLst xmlns:a="http://schemas.openxmlformats.org/drawingml/2006/main">
              <a:ext uri="{FF2B5EF4-FFF2-40B4-BE49-F238E27FC236}">
                <a16:creationId xmlns:a16="http://schemas.microsoft.com/office/drawing/2014/main" id="{51F76C38-4BBB-4ECF-ACFD-A75BA532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5C235"/>
                </a:solidFill>
              </a:defRPr>
            </a:pPr>
            <a:r>
              <a:rPr sz="2325" b="1">
                <a:solidFill>
                  <a:srgbClr val="F5C235"/>
                </a:solidFill>
              </a:rPr>
              <a:t>Caja de velocidades de rectificadora de ejes</a:t>
            </a:r>
          </a:p>
        </p:txBody>
      </p:sp>
      <p:sp>
        <p:nvSpPr>
          <p:cNvPr id="7" name="group-id">
            <a:extLst xmlns:a="http://schemas.openxmlformats.org/drawingml/2006/main">
              <a:ext uri="{FF2B5EF4-FFF2-40B4-BE49-F238E27FC236}">
                <a16:creationId xmlns:a16="http://schemas.microsoft.com/office/drawing/2014/main" id="{5030BE8E-E080-407A-9EC6-E869E645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Grupo 5</a:t>
            </a:r>
          </a:p>
        </p:txBody>
      </p:sp>
      <p:sp>
        <p:nvSpPr>
          <p:cNvPr id="8" name="group-members">
            <a:extLst xmlns:a="http://schemas.openxmlformats.org/drawingml/2006/main">
              <a:ext uri="{FF2B5EF4-FFF2-40B4-BE49-F238E27FC236}">
                <a16:creationId xmlns:a16="http://schemas.microsoft.com/office/drawing/2014/main" id="{547ED45F-4F3F-45D6-962F-FF05BA18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971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6F6"/>
                </a:solidFill>
              </a:defRPr>
            </a:pPr>
            <a:r>
              <a:rPr sz="1350" b="0">
                <a:solidFill>
                  <a:srgbClr val="DCE6F6"/>
                </a:solidFill>
              </a:rPr>
              <a:t>Bastián Saavedra Retamal · Emilio Rodríguez Castro · Lucas Purches Valenzuela · Diego Retamal Mena · Benjamín Pulgar Saavedra</a:t>
            </a:r>
          </a:p>
        </p:txBody>
      </p:sp>
      <p:sp>
        <p:nvSpPr>
          <p:cNvPr id="9" name="institution">
            <a:extLst xmlns:a="http://schemas.openxmlformats.org/drawingml/2006/main">
              <a:ext uri="{FF2B5EF4-FFF2-40B4-BE49-F238E27FC236}">
                <a16:creationId xmlns:a16="http://schemas.microsoft.com/office/drawing/2014/main" id="{117B921A-20FC-48AA-A3AC-81759785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DA"/>
                </a:solidFill>
              </a:defRPr>
            </a:pPr>
            <a:r>
              <a:rPr sz="975" b="0">
                <a:solidFill>
                  <a:srgbClr val="AFC0DA"/>
                </a:solidFill>
              </a:rPr>
              <a:t>Centro Educativo Salesianos Talca · Lengua y Literatura / Mecánica Industrial · 2026</a:t>
            </a:r>
          </a:p>
        </p:txBody>
      </p:sp>
    </p:spTree>
    <p:extLst>
      <p:ext uri="{BB962C8B-B14F-4D97-AF65-F5344CB8AC3E}">
        <p14:creationId xmlns:p14="http://schemas.microsoft.com/office/powerpoint/2010/main" val="1772089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2">
            <a:extLst xmlns:a="http://schemas.openxmlformats.org/drawingml/2006/main">
              <a:ext uri="{FF2B5EF4-FFF2-40B4-BE49-F238E27FC236}">
                <a16:creationId xmlns:a16="http://schemas.microsoft.com/office/drawing/2014/main" id="{4D217875-C1DB-43F2-A2A2-036E70A2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01 · CONTEXTO TÉCNICO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D6814206-18B0-4D46-8BB1-C1B1DE76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El conjunto cumple una función necesaria en el sistema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26D818CE-809B-41AF-9A7C-D796DE05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machine-photo">
            <a:extLst xmlns:a="http://schemas.openxmlformats.org/drawingml/2006/main">
              <a:ext uri="{FF2B5EF4-FFF2-40B4-BE49-F238E27FC236}">
                <a16:creationId xmlns:a16="http://schemas.microsoft.com/office/drawing/2014/main" id="{36823C89-B9F7-4226-B41D-99C56E04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95450"/>
            <a:ext cx="47434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machine-photo-label">
            <a:extLst xmlns:a="http://schemas.openxmlformats.org/drawingml/2006/main">
              <a:ext uri="{FF2B5EF4-FFF2-40B4-BE49-F238E27FC236}">
                <a16:creationId xmlns:a16="http://schemas.microsoft.com/office/drawing/2014/main" id="{E53CEA4A-3D0D-4B78-81F0-738AB99D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528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INSERTAR FOTO REAL DE LA MÁQUINA O CONJUNTO</a:t>
            </a:r>
          </a:p>
        </p:txBody>
      </p:sp>
      <p:sp>
        <p:nvSpPr>
          <p:cNvPr id="6" name="equipment-label">
            <a:extLst xmlns:a="http://schemas.openxmlformats.org/drawingml/2006/main">
              <a:ext uri="{FF2B5EF4-FFF2-40B4-BE49-F238E27FC236}">
                <a16:creationId xmlns:a16="http://schemas.microsoft.com/office/drawing/2014/main" id="{037613F9-DDF9-4BE5-BE07-F6C3FF34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EQUIPO O CONJUNTO</a:t>
            </a:r>
          </a:p>
        </p:txBody>
      </p:sp>
      <p:sp>
        <p:nvSpPr>
          <p:cNvPr id="7" name="equipment">
            <a:extLst xmlns:a="http://schemas.openxmlformats.org/drawingml/2006/main">
              <a:ext uri="{FF2B5EF4-FFF2-40B4-BE49-F238E27FC236}">
                <a16:creationId xmlns:a16="http://schemas.microsoft.com/office/drawing/2014/main" id="{DB00D73E-6A8C-4425-8875-3F4D04CE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Caja de velocidades de rectificadora de ejes</a:t>
            </a:r>
          </a:p>
        </p:txBody>
      </p:sp>
      <p:sp>
        <p:nvSpPr>
          <p:cNvPr id="8" name="location-function-label">
            <a:extLst xmlns:a="http://schemas.openxmlformats.org/drawingml/2006/main">
              <a:ext uri="{FF2B5EF4-FFF2-40B4-BE49-F238E27FC236}">
                <a16:creationId xmlns:a16="http://schemas.microsoft.com/office/drawing/2014/main" id="{F68F6487-6320-4CD0-8AC8-42782479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UBICACIÓN Y FUNCIÓN</a:t>
            </a:r>
          </a:p>
        </p:txBody>
      </p:sp>
      <p:sp>
        <p:nvSpPr>
          <p:cNvPr id="9" name="location-function">
            <a:extLst xmlns:a="http://schemas.openxmlformats.org/drawingml/2006/main">
              <a:ext uri="{FF2B5EF4-FFF2-40B4-BE49-F238E27FC236}">
                <a16:creationId xmlns:a16="http://schemas.microsoft.com/office/drawing/2014/main" id="{548BC182-FDC9-4738-AA59-BF94FB78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71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Indiquen dónde se encuentra y qué función cumple dentro del sistema.</a:t>
            </a:r>
          </a:p>
        </p:txBody>
      </p:sp>
      <p:sp>
        <p:nvSpPr>
          <p:cNvPr id="10" name="maintenance-importance-label">
            <a:extLst xmlns:a="http://schemas.openxmlformats.org/drawingml/2006/main">
              <a:ext uri="{FF2B5EF4-FFF2-40B4-BE49-F238E27FC236}">
                <a16:creationId xmlns:a16="http://schemas.microsoft.com/office/drawing/2014/main" id="{77EA728C-E75A-4660-90BB-4B32CBA43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IMPORTANCIA DEL MANTENIMIENTO</a:t>
            </a:r>
          </a:p>
        </p:txBody>
      </p:sp>
      <p:sp>
        <p:nvSpPr>
          <p:cNvPr id="11" name="maintenance-importance">
            <a:extLst xmlns:a="http://schemas.openxmlformats.org/drawingml/2006/main">
              <a:ext uri="{FF2B5EF4-FFF2-40B4-BE49-F238E27FC236}">
                <a16:creationId xmlns:a16="http://schemas.microsoft.com/office/drawing/2014/main" id="{AB848F29-6F8E-4471-AD83-DF7379C6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571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Expliquen qué podría ocurrir si el componente trabaja con desgaste, desajuste o lubricación deficiente.</a:t>
            </a:r>
          </a:p>
        </p:txBody>
      </p:sp>
      <p:sp>
        <p:nvSpPr>
          <p:cNvPr id="12" name="footer-2">
            <a:extLst xmlns:a="http://schemas.openxmlformats.org/drawingml/2006/main">
              <a:ext uri="{FF2B5EF4-FFF2-40B4-BE49-F238E27FC236}">
                <a16:creationId xmlns:a16="http://schemas.microsoft.com/office/drawing/2014/main" id="{51102082-53BB-4F27-89BD-A1BFB784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13" name="footer-text-2">
            <a:extLst xmlns:a="http://schemas.openxmlformats.org/drawingml/2006/main">
              <a:ext uri="{FF2B5EF4-FFF2-40B4-BE49-F238E27FC236}">
                <a16:creationId xmlns:a16="http://schemas.microsoft.com/office/drawing/2014/main" id="{584256DD-304F-494B-A381-551DC09D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14" name="page-2">
            <a:extLst xmlns:a="http://schemas.openxmlformats.org/drawingml/2006/main">
              <a:ext uri="{FF2B5EF4-FFF2-40B4-BE49-F238E27FC236}">
                <a16:creationId xmlns:a16="http://schemas.microsoft.com/office/drawing/2014/main" id="{6EBA0B15-B82A-42CB-A986-1D367480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088089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3">
            <a:extLst xmlns:a="http://schemas.openxmlformats.org/drawingml/2006/main">
              <a:ext uri="{FF2B5EF4-FFF2-40B4-BE49-F238E27FC236}">
                <a16:creationId xmlns:a16="http://schemas.microsoft.com/office/drawing/2014/main" id="{E2BE2E6A-C7ED-479C-9953-35D27DDC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02 · OBJETIVOS Y RESPONSABILIDADES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4A916B7-27E8-4219-A278-503A6F295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La intervención tuvo un propósito verificable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6B109670-6715-40B8-96A5-2326F0BE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general-objective">
            <a:extLst xmlns:a="http://schemas.openxmlformats.org/drawingml/2006/main">
              <a:ext uri="{FF2B5EF4-FFF2-40B4-BE49-F238E27FC236}">
                <a16:creationId xmlns:a16="http://schemas.microsoft.com/office/drawing/2014/main" id="{B16F308F-A496-4EB4-BE80-E9B643A7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FD0EC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7270BC0-8F96-4B16-88C2-9C8DF9BA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OBJETIVO GENERAL</a:t>
            </a:r>
          </a:p>
        </p:txBody>
      </p:sp>
      <p:sp>
        <p:nvSpPr>
          <p:cNvPr id="6" name="objective-copy">
            <a:extLst xmlns:a="http://schemas.openxmlformats.org/drawingml/2006/main">
              <a:ext uri="{FF2B5EF4-FFF2-40B4-BE49-F238E27FC236}">
                <a16:creationId xmlns:a16="http://schemas.microsoft.com/office/drawing/2014/main" id="{CA9A7CFD-9251-4170-A12F-1BDD53D97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Redacten una acción principal que indique qué se inspeccionó, mantuvo o diagnosticó y para qué.</a:t>
            </a:r>
          </a:p>
        </p:txBody>
      </p:sp>
      <p:sp>
        <p:nvSpPr>
          <p:cNvPr id="7" name="action-1">
            <a:extLst xmlns:a="http://schemas.openxmlformats.org/drawingml/2006/main">
              <a:ext uri="{FF2B5EF4-FFF2-40B4-BE49-F238E27FC236}">
                <a16:creationId xmlns:a16="http://schemas.microsoft.com/office/drawing/2014/main" id="{152B95D5-E180-44AC-81A6-CEF533B5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352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4B57C766-3425-4DFF-AFCE-66508192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1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ED40321-0C21-4537-AEF6-4A9D8891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Acción técnica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E7D6E31B-7941-47D8-9329-AE324FC4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operación concreta realizaron?</a:t>
            </a:r>
          </a:p>
        </p:txBody>
      </p:sp>
      <p:sp>
        <p:nvSpPr>
          <p:cNvPr id="11" name="action-2">
            <a:extLst xmlns:a="http://schemas.openxmlformats.org/drawingml/2006/main">
              <a:ext uri="{FF2B5EF4-FFF2-40B4-BE49-F238E27FC236}">
                <a16:creationId xmlns:a16="http://schemas.microsoft.com/office/drawing/2014/main" id="{AAB5EB1A-97F0-42B6-99DA-CAF1BF74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3352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25A3F41-9219-4C96-9642-44BBFFF1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2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A98C738-1391-4B0A-94EA-B3920FCF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33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Control y evidencia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969D90A-F0B2-42D2-9EEA-AF781D51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05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midieron, observaron o registraron?</a:t>
            </a:r>
          </a:p>
        </p:txBody>
      </p:sp>
      <p:sp>
        <p:nvSpPr>
          <p:cNvPr id="15" name="action-3">
            <a:extLst xmlns:a="http://schemas.openxmlformats.org/drawingml/2006/main">
              <a:ext uri="{FF2B5EF4-FFF2-40B4-BE49-F238E27FC236}">
                <a16:creationId xmlns:a16="http://schemas.microsoft.com/office/drawing/2014/main" id="{969A8BB2-C507-484A-B5EB-A5ABCC07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3352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2ACB4BF-56A5-45B4-ADD4-5C541B9D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147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3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64205AC-28D8-486B-904F-992167D1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3750"/>
            <a:ext cx="2324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Resultado esperado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059DFD9-32B0-44A4-A98D-B6C294B0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05250"/>
            <a:ext cx="2895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condición buscaban recuperar o comprobar?</a:t>
            </a:r>
          </a:p>
        </p:txBody>
      </p:sp>
      <p:sp>
        <p:nvSpPr>
          <p:cNvPr id="19" name="participation-note">
            <a:extLst xmlns:a="http://schemas.openxmlformats.org/drawingml/2006/main">
              <a:ext uri="{FF2B5EF4-FFF2-40B4-BE49-F238E27FC236}">
                <a16:creationId xmlns:a16="http://schemas.microsoft.com/office/drawing/2014/main" id="{D55F1DB1-9F5C-4624-AAEA-638E4F7D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825C"/>
                </a:solidFill>
              </a:defRPr>
            </a:pPr>
            <a:r>
              <a:rPr sz="1350" b="1">
                <a:solidFill>
                  <a:srgbClr val="17825C"/>
                </a:solidFill>
              </a:rPr>
              <a:t>Distribución oral: asignen a cada integrante una sección que pueda explicar y defender.</a:t>
            </a:r>
          </a:p>
        </p:txBody>
      </p:sp>
      <p:sp>
        <p:nvSpPr>
          <p:cNvPr id="20" name="footer-3">
            <a:extLst xmlns:a="http://schemas.openxmlformats.org/drawingml/2006/main">
              <a:ext uri="{FF2B5EF4-FFF2-40B4-BE49-F238E27FC236}">
                <a16:creationId xmlns:a16="http://schemas.microsoft.com/office/drawing/2014/main" id="{7140AAE4-4306-4ED0-9B95-B1DD0424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21" name="footer-text-3">
            <a:extLst xmlns:a="http://schemas.openxmlformats.org/drawingml/2006/main">
              <a:ext uri="{FF2B5EF4-FFF2-40B4-BE49-F238E27FC236}">
                <a16:creationId xmlns:a16="http://schemas.microsoft.com/office/drawing/2014/main" id="{E8419B6F-21F6-46AC-8187-C777E2D4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22" name="page-3">
            <a:extLst xmlns:a="http://schemas.openxmlformats.org/drawingml/2006/main">
              <a:ext uri="{FF2B5EF4-FFF2-40B4-BE49-F238E27FC236}">
                <a16:creationId xmlns:a16="http://schemas.microsoft.com/office/drawing/2014/main" id="{E303E0AE-F340-43D6-9FAE-4E7617B3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241706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-4">
            <a:extLst xmlns:a="http://schemas.openxmlformats.org/drawingml/2006/main">
              <a:ext uri="{FF2B5EF4-FFF2-40B4-BE49-F238E27FC236}">
                <a16:creationId xmlns:a16="http://schemas.microsoft.com/office/drawing/2014/main" id="{2391BD53-0E66-4F5E-A265-5B334C85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03 · PROCEDIMIENTO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49FC85A-2EBA-4D85-8850-86C1858E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El procedimiento siguió una secuencia segura y controlada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4A2647D3-E1B9-4CE6-BE8F-384D1BC6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8765E399-2976-412C-A49B-1C87C0A0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B8CAE9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F9ECBD1-E479-4C7A-915C-7ED44802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DD6110D-C87A-434C-9EF6-BD4FC951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Inspección inicial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B1FF67B-86E5-4933-89B8-E9245148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Estado, riesgos y EPP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C6D8AE5-D6DD-45BB-A40B-A708B11E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33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→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8D9721FC-A7F7-47B3-907B-819BB189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4722891-09FB-45BD-AD51-83450D77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4D5223C-32DB-40FC-A83A-421514E6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Desarme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C5CEBDB-6052-4FF4-95FB-F7D0E178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Orden, herramientas y piezas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BCB3D70-E908-48FD-BE95-5C8094BC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33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→</a:t>
            </a:r>
          </a:p>
        </p:txBody>
      </p:sp>
      <p:sp>
        <p:nvSpPr>
          <p:cNvPr id="14" name="step-3">
            <a:extLst xmlns:a="http://schemas.openxmlformats.org/drawingml/2006/main">
              <a:ext uri="{FF2B5EF4-FFF2-40B4-BE49-F238E27FC236}">
                <a16:creationId xmlns:a16="http://schemas.microsoft.com/office/drawing/2014/main" id="{48FC2109-31E2-4752-8FD4-C7F8CCF4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92FB91B-8656-434F-AB9F-01748D4A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124FC6C-D841-4DB5-AF85-FA03495D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Limpieza y medición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D370069-5B94-4BB5-A282-16A8BF00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Evidencia y tolerancias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CD99436C-02C5-46AC-B4AF-BBFE89C1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33650"/>
            <a:ext cx="266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C235"/>
                </a:solidFill>
              </a:defRPr>
            </a:pPr>
            <a:r>
              <a:rPr sz="2100" b="1">
                <a:solidFill>
                  <a:srgbClr val="F5C235"/>
                </a:solidFill>
              </a:rPr>
              <a:t>→</a:t>
            </a:r>
          </a:p>
        </p:txBody>
      </p:sp>
      <p:sp>
        <p:nvSpPr>
          <p:cNvPr id="19" name="step-4">
            <a:extLst xmlns:a="http://schemas.openxmlformats.org/drawingml/2006/main">
              <a:ext uri="{FF2B5EF4-FFF2-40B4-BE49-F238E27FC236}">
                <a16:creationId xmlns:a16="http://schemas.microsoft.com/office/drawing/2014/main" id="{52E02FD9-A07C-4885-95E3-B56327CE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24050"/>
            <a:ext cx="24384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70DD5F6-2EFF-4B53-A35F-FC8A770B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9550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5ED7"/>
                </a:solidFill>
              </a:defRPr>
            </a:pPr>
            <a:r>
              <a:rPr sz="1575" b="1">
                <a:solidFill>
                  <a:srgbClr val="0B5ED7"/>
                </a:solidFill>
              </a:rPr>
              <a:t>04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D5FE272-3161-4741-9990-05F29B58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33650"/>
            <a:ext cx="2057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D3F"/>
                </a:solidFill>
              </a:defRPr>
            </a:pPr>
            <a:r>
              <a:rPr sz="1500" b="1">
                <a:solidFill>
                  <a:srgbClr val="111D3F"/>
                </a:solidFill>
              </a:rPr>
              <a:t>Reensamble y control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AECE4E53-0BA6-46A1-9231-25F501A0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480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Ajuste y comprobación</a:t>
            </a:r>
          </a:p>
        </p:txBody>
      </p:sp>
      <p:sp>
        <p:nvSpPr>
          <p:cNvPr id="23" name="procedure-photo">
            <a:extLst xmlns:a="http://schemas.openxmlformats.org/drawingml/2006/main">
              <a:ext uri="{FF2B5EF4-FFF2-40B4-BE49-F238E27FC236}">
                <a16:creationId xmlns:a16="http://schemas.microsoft.com/office/drawing/2014/main" id="{53F60FF2-EA4B-4AD2-B7D5-B0958201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8768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4" name="procedure-photo-label">
            <a:extLst xmlns:a="http://schemas.openxmlformats.org/drawingml/2006/main">
              <a:ext uri="{FF2B5EF4-FFF2-40B4-BE49-F238E27FC236}">
                <a16:creationId xmlns:a16="http://schemas.microsoft.com/office/drawing/2014/main" id="{E1EA4F16-D5D1-4DA2-A94F-E6D3DF03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95825"/>
            <a:ext cx="4419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INSERTAR FOTO DEL PROCEDIMIENTO MÁS RELEVANTE</a:t>
            </a:r>
          </a:p>
        </p:txBody>
      </p:sp>
      <p:sp>
        <p:nvSpPr>
          <p:cNvPr id="25" name="technical-decision-label">
            <a:extLst xmlns:a="http://schemas.openxmlformats.org/drawingml/2006/main">
              <a:ext uri="{FF2B5EF4-FFF2-40B4-BE49-F238E27FC236}">
                <a16:creationId xmlns:a16="http://schemas.microsoft.com/office/drawing/2014/main" id="{D9E91317-0F52-4598-886A-E3DBDCCB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00500"/>
            <a:ext cx="563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5ED7"/>
                </a:solidFill>
              </a:defRPr>
            </a:pPr>
            <a:r>
              <a:rPr sz="900" b="1">
                <a:solidFill>
                  <a:srgbClr val="0B5ED7"/>
                </a:solidFill>
              </a:rPr>
              <a:t>DECISIÓN TÉCNICA CLAVE</a:t>
            </a:r>
          </a:p>
        </p:txBody>
      </p:sp>
      <p:sp>
        <p:nvSpPr>
          <p:cNvPr id="26" name="technical-decision">
            <a:extLst xmlns:a="http://schemas.openxmlformats.org/drawingml/2006/main">
              <a:ext uri="{FF2B5EF4-FFF2-40B4-BE49-F238E27FC236}">
                <a16:creationId xmlns:a16="http://schemas.microsoft.com/office/drawing/2014/main" id="{828C18E3-6A44-4A1E-A425-050C54AC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48150"/>
            <a:ext cx="5638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Expliquen una decisión tomada durante el procedimiento y qué evidencia la justificó.</a:t>
            </a:r>
          </a:p>
        </p:txBody>
      </p:sp>
      <p:sp>
        <p:nvSpPr>
          <p:cNvPr id="27" name="footer-4">
            <a:extLst xmlns:a="http://schemas.openxmlformats.org/drawingml/2006/main">
              <a:ext uri="{FF2B5EF4-FFF2-40B4-BE49-F238E27FC236}">
                <a16:creationId xmlns:a16="http://schemas.microsoft.com/office/drawing/2014/main" id="{156F18DC-E6D8-4442-B5AB-57324417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28" name="footer-text-4">
            <a:extLst xmlns:a="http://schemas.openxmlformats.org/drawingml/2006/main">
              <a:ext uri="{FF2B5EF4-FFF2-40B4-BE49-F238E27FC236}">
                <a16:creationId xmlns:a16="http://schemas.microsoft.com/office/drawing/2014/main" id="{AC8A4389-C0B3-438E-A473-9050AAE0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29" name="page-4">
            <a:extLst xmlns:a="http://schemas.openxmlformats.org/drawingml/2006/main">
              <a:ext uri="{FF2B5EF4-FFF2-40B4-BE49-F238E27FC236}">
                <a16:creationId xmlns:a16="http://schemas.microsoft.com/office/drawing/2014/main" id="{C1B8F31D-6C68-4DDE-B559-40DF64FD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244786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5">
            <a:extLst xmlns:a="http://schemas.openxmlformats.org/drawingml/2006/main">
              <a:ext uri="{FF2B5EF4-FFF2-40B4-BE49-F238E27FC236}">
                <a16:creationId xmlns:a16="http://schemas.microsoft.com/office/drawing/2014/main" id="{1338CB41-8BA8-436C-91B7-3551B910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04 · BANCO VISUAL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B69D888D-4FAF-45B5-B111-35729692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La evidencia permite sostener el diagnóstico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B19ADB01-6212-40B7-ABBB-92161C65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evidence-photo-1">
            <a:extLst xmlns:a="http://schemas.openxmlformats.org/drawingml/2006/main">
              <a:ext uri="{FF2B5EF4-FFF2-40B4-BE49-F238E27FC236}">
                <a16:creationId xmlns:a16="http://schemas.microsoft.com/office/drawing/2014/main" id="{8F66BD69-D42F-4CE9-AB8E-1525B775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33528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evidence-photo-1-label">
            <a:extLst xmlns:a="http://schemas.openxmlformats.org/drawingml/2006/main">
              <a:ext uri="{FF2B5EF4-FFF2-40B4-BE49-F238E27FC236}">
                <a16:creationId xmlns:a16="http://schemas.microsoft.com/office/drawing/2014/main" id="{7B344456-B0B8-4986-A905-90CA3332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FOTO 1 · VISTA GENERAL</a:t>
            </a:r>
          </a:p>
        </p:txBody>
      </p:sp>
      <p:sp>
        <p:nvSpPr>
          <p:cNvPr id="6" name="caption-1">
            <a:extLst xmlns:a="http://schemas.openxmlformats.org/drawingml/2006/main">
              <a:ext uri="{FF2B5EF4-FFF2-40B4-BE49-F238E27FC236}">
                <a16:creationId xmlns:a16="http://schemas.microsoft.com/office/drawing/2014/main" id="{25ADF98E-8DE0-4A89-B09D-8A720C2E2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parte del sistema permite ubicar?</a:t>
            </a:r>
          </a:p>
        </p:txBody>
      </p:sp>
      <p:sp>
        <p:nvSpPr>
          <p:cNvPr id="7" name="evidence-photo-2">
            <a:extLst xmlns:a="http://schemas.openxmlformats.org/drawingml/2006/main">
              <a:ext uri="{FF2B5EF4-FFF2-40B4-BE49-F238E27FC236}">
                <a16:creationId xmlns:a16="http://schemas.microsoft.com/office/drawing/2014/main" id="{D6E774BF-CBEF-4BB1-A1D6-655A1C97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33550"/>
            <a:ext cx="33528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8" name="evidence-photo-2-label">
            <a:extLst xmlns:a="http://schemas.openxmlformats.org/drawingml/2006/main">
              <a:ext uri="{FF2B5EF4-FFF2-40B4-BE49-F238E27FC236}">
                <a16:creationId xmlns:a16="http://schemas.microsoft.com/office/drawing/2014/main" id="{28066372-E952-42D0-9B00-71B0F600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FOTO 2 · COMPONENTE</a:t>
            </a:r>
          </a:p>
        </p:txBody>
      </p:sp>
      <p:sp>
        <p:nvSpPr>
          <p:cNvPr id="9" name="caption-2">
            <a:extLst xmlns:a="http://schemas.openxmlformats.org/drawingml/2006/main">
              <a:ext uri="{FF2B5EF4-FFF2-40B4-BE49-F238E27FC236}">
                <a16:creationId xmlns:a16="http://schemas.microsoft.com/office/drawing/2014/main" id="{A37BA46D-C21F-4B55-BAC0-0E97F248F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291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detalle técnico muestra?</a:t>
            </a:r>
          </a:p>
        </p:txBody>
      </p:sp>
      <p:sp>
        <p:nvSpPr>
          <p:cNvPr id="10" name="evidence-photo-3">
            <a:extLst xmlns:a="http://schemas.openxmlformats.org/drawingml/2006/main">
              <a:ext uri="{FF2B5EF4-FFF2-40B4-BE49-F238E27FC236}">
                <a16:creationId xmlns:a16="http://schemas.microsoft.com/office/drawing/2014/main" id="{3647C679-7EDE-4F05-BFB9-B8BE0A4C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33550"/>
            <a:ext cx="33528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1" name="evidence-photo-3-label">
            <a:extLst xmlns:a="http://schemas.openxmlformats.org/drawingml/2006/main">
              <a:ext uri="{FF2B5EF4-FFF2-40B4-BE49-F238E27FC236}">
                <a16:creationId xmlns:a16="http://schemas.microsoft.com/office/drawing/2014/main" id="{AE887789-0C12-4C97-8CDF-99340CFE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95600"/>
            <a:ext cx="289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3627A"/>
                </a:solidFill>
              </a:defRPr>
            </a:pPr>
            <a:r>
              <a:rPr sz="1275" b="1">
                <a:solidFill>
                  <a:srgbClr val="53627A"/>
                </a:solidFill>
              </a:rPr>
              <a:t>FOTO 3 · HALLAZGO</a:t>
            </a:r>
          </a:p>
        </p:txBody>
      </p:sp>
      <p:sp>
        <p:nvSpPr>
          <p:cNvPr id="12" name="caption-3">
            <a:extLst xmlns:a="http://schemas.openxmlformats.org/drawingml/2006/main">
              <a:ext uri="{FF2B5EF4-FFF2-40B4-BE49-F238E27FC236}">
                <a16:creationId xmlns:a16="http://schemas.microsoft.com/office/drawing/2014/main" id="{C2475575-EB21-40A1-95F1-8AE67A92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29150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27A"/>
                </a:solidFill>
              </a:defRPr>
            </a:pPr>
            <a:r>
              <a:rPr sz="1275" b="0">
                <a:solidFill>
                  <a:srgbClr val="53627A"/>
                </a:solidFill>
              </a:rPr>
              <a:t>¿Qué desgaste, daño o condición evidencia?</a:t>
            </a:r>
          </a:p>
        </p:txBody>
      </p:sp>
      <p:sp>
        <p:nvSpPr>
          <p:cNvPr id="13" name="evidence-rule">
            <a:extLst xmlns:a="http://schemas.openxmlformats.org/drawingml/2006/main">
              <a:ext uri="{FF2B5EF4-FFF2-40B4-BE49-F238E27FC236}">
                <a16:creationId xmlns:a16="http://schemas.microsoft.com/office/drawing/2014/main" id="{FF078C61-F92E-4CD5-87F1-6F26C507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E9D388"/>
            </a:solidFill>
            <a:prstDash val="solid"/>
          </a:ln>
        </p:spPr>
      </p:sp>
      <p:sp>
        <p:nvSpPr>
          <p:cNvPr id="14" name="evidence-instruction">
            <a:extLst xmlns:a="http://schemas.openxmlformats.org/drawingml/2006/main">
              <a:ext uri="{FF2B5EF4-FFF2-40B4-BE49-F238E27FC236}">
                <a16:creationId xmlns:a16="http://schemas.microsoft.com/office/drawing/2014/main" id="{128A9D33-44EA-48C0-A231-A9CF06A9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1051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05414"/>
                </a:solidFill>
              </a:defRPr>
            </a:pPr>
            <a:r>
              <a:rPr sz="1350" b="1">
                <a:solidFill>
                  <a:srgbClr val="705414"/>
                </a:solidFill>
              </a:rPr>
              <a:t>Cada imagen debe tener una explicación oral: qué muestra, por qué importa y qué conclusión permite sostener.</a:t>
            </a:r>
          </a:p>
        </p:txBody>
      </p:sp>
      <p:sp>
        <p:nvSpPr>
          <p:cNvPr id="15" name="footer-5">
            <a:extLst xmlns:a="http://schemas.openxmlformats.org/drawingml/2006/main">
              <a:ext uri="{FF2B5EF4-FFF2-40B4-BE49-F238E27FC236}">
                <a16:creationId xmlns:a16="http://schemas.microsoft.com/office/drawing/2014/main" id="{427B797B-1255-4268-AD13-A521CE67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16" name="footer-text-5">
            <a:extLst xmlns:a="http://schemas.openxmlformats.org/drawingml/2006/main">
              <a:ext uri="{FF2B5EF4-FFF2-40B4-BE49-F238E27FC236}">
                <a16:creationId xmlns:a16="http://schemas.microsoft.com/office/drawing/2014/main" id="{20A201AE-7549-4076-92BE-1C9A7745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17" name="page-5">
            <a:extLst xmlns:a="http://schemas.openxmlformats.org/drawingml/2006/main">
              <a:ext uri="{FF2B5EF4-FFF2-40B4-BE49-F238E27FC236}">
                <a16:creationId xmlns:a16="http://schemas.microsoft.com/office/drawing/2014/main" id="{59B3ED2C-4277-48DD-BAD8-A1C198D2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747215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eyebrow-6">
            <a:extLst xmlns:a="http://schemas.openxmlformats.org/drawingml/2006/main">
              <a:ext uri="{FF2B5EF4-FFF2-40B4-BE49-F238E27FC236}">
                <a16:creationId xmlns:a16="http://schemas.microsoft.com/office/drawing/2014/main" id="{FF4CD27C-2843-44BA-B236-7E122306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05 · RESULTADOS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226CC578-458B-4523-9C69-3AB8FCD1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El diagnóstico conecta hallazgo, causa y consecuencia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7F4AF6C7-F54B-4081-89DB-BDD9512C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head-HALLAZGO">
            <a:extLst xmlns:a="http://schemas.openxmlformats.org/drawingml/2006/main">
              <a:ext uri="{FF2B5EF4-FFF2-40B4-BE49-F238E27FC236}">
                <a16:creationId xmlns:a16="http://schemas.microsoft.com/office/drawing/2014/main" id="{B79D04D6-6389-4D08-84D7-6279848B9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96CC189-BA49-42D5-871D-BEC83BFA2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HALLAZGO</a:t>
            </a:r>
          </a:p>
        </p:txBody>
      </p:sp>
      <p:sp>
        <p:nvSpPr>
          <p:cNvPr id="6" name="head-EVIDENCIA">
            <a:extLst xmlns:a="http://schemas.openxmlformats.org/drawingml/2006/main">
              <a:ext uri="{FF2B5EF4-FFF2-40B4-BE49-F238E27FC236}">
                <a16:creationId xmlns:a16="http://schemas.microsoft.com/office/drawing/2014/main" id="{4DC9C51B-66E9-4C70-A3B6-F653DD14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335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2B4DF3C-718A-406C-BF6B-73EA913C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859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EVIDENCIA</a:t>
            </a:r>
          </a:p>
        </p:txBody>
      </p:sp>
      <p:sp>
        <p:nvSpPr>
          <p:cNvPr id="8" name="head-CAUSA PROBABLE">
            <a:extLst xmlns:a="http://schemas.openxmlformats.org/drawingml/2006/main">
              <a:ext uri="{FF2B5EF4-FFF2-40B4-BE49-F238E27FC236}">
                <a16:creationId xmlns:a16="http://schemas.microsoft.com/office/drawing/2014/main" id="{03BDAAF5-2E63-466E-B588-8F13CBCC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7335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B3E9E3F-E535-48D1-BF09-3D3B9186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8595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CAUSA PROBABLE</a:t>
            </a:r>
          </a:p>
        </p:txBody>
      </p:sp>
      <p:sp>
        <p:nvSpPr>
          <p:cNvPr id="10" name="head-RIESGO O EFECTO">
            <a:extLst xmlns:a="http://schemas.openxmlformats.org/drawingml/2006/main">
              <a:ext uri="{FF2B5EF4-FFF2-40B4-BE49-F238E27FC236}">
                <a16:creationId xmlns:a16="http://schemas.microsoft.com/office/drawing/2014/main" id="{516367D6-BAB7-426A-A5DB-4EB93FC2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1B2E5A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2023287-4F06-4845-8C33-594DD435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RIESGO O EFECTO</a:t>
            </a:r>
          </a:p>
        </p:txBody>
      </p:sp>
      <p:sp>
        <p:nvSpPr>
          <p:cNvPr id="12" name="cell-0-0">
            <a:extLst xmlns:a="http://schemas.openxmlformats.org/drawingml/2006/main">
              <a:ext uri="{FF2B5EF4-FFF2-40B4-BE49-F238E27FC236}">
                <a16:creationId xmlns:a16="http://schemas.microsoft.com/office/drawing/2014/main" id="{5B592602-4F96-4B30-9EC4-134C3481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8A3D1F71-29B6-4695-B10A-5F6236CA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Condición observada</a:t>
            </a:r>
          </a:p>
        </p:txBody>
      </p:sp>
      <p:sp>
        <p:nvSpPr>
          <p:cNvPr id="14" name="cell-0-1">
            <a:extLst xmlns:a="http://schemas.openxmlformats.org/drawingml/2006/main">
              <a:ext uri="{FF2B5EF4-FFF2-40B4-BE49-F238E27FC236}">
                <a16:creationId xmlns:a16="http://schemas.microsoft.com/office/drawing/2014/main" id="{A27233FD-3322-429F-9A05-1EC4397A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479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81163C77-BF86-4C28-9DE7-51AA1CE8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955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Foto, medición o prueba</a:t>
            </a:r>
          </a:p>
        </p:txBody>
      </p:sp>
      <p:sp>
        <p:nvSpPr>
          <p:cNvPr id="16" name="cell-0-2">
            <a:extLst xmlns:a="http://schemas.openxmlformats.org/drawingml/2006/main">
              <a:ext uri="{FF2B5EF4-FFF2-40B4-BE49-F238E27FC236}">
                <a16:creationId xmlns:a16="http://schemas.microsoft.com/office/drawing/2014/main" id="{3AFC0591-54E6-403E-BD7A-54785307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2479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95F871E-06D2-4D99-A6F4-B49E14C4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955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Explicación técnica</a:t>
            </a:r>
          </a:p>
        </p:txBody>
      </p:sp>
      <p:sp>
        <p:nvSpPr>
          <p:cNvPr id="18" name="cell-0-3">
            <a:extLst xmlns:a="http://schemas.openxmlformats.org/drawingml/2006/main">
              <a:ext uri="{FF2B5EF4-FFF2-40B4-BE49-F238E27FC236}">
                <a16:creationId xmlns:a16="http://schemas.microsoft.com/office/drawing/2014/main" id="{68BF4B0D-325B-4A34-9B6F-6D625E6D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479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761D9331-323C-4A1E-87EA-28F14E55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955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Efecto en operación o seguridad</a:t>
            </a:r>
          </a:p>
        </p:txBody>
      </p:sp>
      <p:sp>
        <p:nvSpPr>
          <p:cNvPr id="20" name="cell-1-0">
            <a:extLst xmlns:a="http://schemas.openxmlformats.org/drawingml/2006/main">
              <a:ext uri="{FF2B5EF4-FFF2-40B4-BE49-F238E27FC236}">
                <a16:creationId xmlns:a16="http://schemas.microsoft.com/office/drawing/2014/main" id="{B36EDC05-D449-4FA6-8BE7-EF1703CC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4DD2B906-C5F1-41DB-8445-C9057682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2" name="cell-1-1">
            <a:extLst xmlns:a="http://schemas.openxmlformats.org/drawingml/2006/main">
              <a:ext uri="{FF2B5EF4-FFF2-40B4-BE49-F238E27FC236}">
                <a16:creationId xmlns:a16="http://schemas.microsoft.com/office/drawing/2014/main" id="{84CEF5AE-8CA6-47EF-8A87-33768817D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147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EB52CFAC-45A0-44AE-909B-EA44B0DA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623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4" name="cell-1-2">
            <a:extLst xmlns:a="http://schemas.openxmlformats.org/drawingml/2006/main">
              <a:ext uri="{FF2B5EF4-FFF2-40B4-BE49-F238E27FC236}">
                <a16:creationId xmlns:a16="http://schemas.microsoft.com/office/drawing/2014/main" id="{6AE8D737-6B92-44C8-B2B0-71B3AC86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147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FD92161-9C79-45CE-836C-4FCEB78A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5623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6" name="cell-1-3">
            <a:extLst xmlns:a="http://schemas.openxmlformats.org/drawingml/2006/main">
              <a:ext uri="{FF2B5EF4-FFF2-40B4-BE49-F238E27FC236}">
                <a16:creationId xmlns:a16="http://schemas.microsoft.com/office/drawing/2014/main" id="{D28DC1DE-4279-423B-96B7-6D664D32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147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5BC64C1E-6315-4F53-9479-75BEF06D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28" name="cell-2-0">
            <a:extLst xmlns:a="http://schemas.openxmlformats.org/drawingml/2006/main">
              <a:ext uri="{FF2B5EF4-FFF2-40B4-BE49-F238E27FC236}">
                <a16:creationId xmlns:a16="http://schemas.microsoft.com/office/drawing/2014/main" id="{BB0A4311-CE54-4DF2-A3D6-D81AE4BD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A10935CB-32E9-4DB8-B3FB-A3166D31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0" name="cell-2-1">
            <a:extLst xmlns:a="http://schemas.openxmlformats.org/drawingml/2006/main">
              <a:ext uri="{FF2B5EF4-FFF2-40B4-BE49-F238E27FC236}">
                <a16:creationId xmlns:a16="http://schemas.microsoft.com/office/drawing/2014/main" id="{9636C25D-1F03-438C-8319-EF1DB7E7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81500"/>
            <a:ext cx="266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FD58FACB-6BC3-4D15-8583-91F5D192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629150"/>
            <a:ext cx="240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2" name="cell-2-2">
            <a:extLst xmlns:a="http://schemas.openxmlformats.org/drawingml/2006/main">
              <a:ext uri="{FF2B5EF4-FFF2-40B4-BE49-F238E27FC236}">
                <a16:creationId xmlns:a16="http://schemas.microsoft.com/office/drawing/2014/main" id="{C43295BE-17A1-4D5F-8B0D-4B11EFA4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381500"/>
            <a:ext cx="2952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EC578ED6-D69C-45CE-8CFD-D5C20E8A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29150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4" name="cell-2-3">
            <a:extLst xmlns:a="http://schemas.openxmlformats.org/drawingml/2006/main">
              <a:ext uri="{FF2B5EF4-FFF2-40B4-BE49-F238E27FC236}">
                <a16:creationId xmlns:a16="http://schemas.microsoft.com/office/drawing/2014/main" id="{D01BB22D-387D-4FEC-AC88-F3300433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815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E7A3CF5F-1BB2-4666-B620-9E39FEC0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29150"/>
            <a:ext cx="2705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Completar con evidencia del grupo</a:t>
            </a:r>
          </a:p>
        </p:txBody>
      </p:sp>
      <p:sp>
        <p:nvSpPr>
          <p:cNvPr id="36" name="diagnostic-conclusion">
            <a:extLst xmlns:a="http://schemas.openxmlformats.org/drawingml/2006/main">
              <a:ext uri="{FF2B5EF4-FFF2-40B4-BE49-F238E27FC236}">
                <a16:creationId xmlns:a16="http://schemas.microsoft.com/office/drawing/2014/main" id="{933CC491-81C2-41DC-84E0-60C6FDC3F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825C"/>
                </a:solidFill>
              </a:defRPr>
            </a:pPr>
            <a:r>
              <a:rPr sz="1425" b="1">
                <a:solidFill>
                  <a:srgbClr val="17825C"/>
                </a:solidFill>
              </a:rPr>
              <a:t>Conclusión diagnóstica: formulen una afirmación respaldada por los datos anteriores.</a:t>
            </a:r>
          </a:p>
        </p:txBody>
      </p:sp>
      <p:sp>
        <p:nvSpPr>
          <p:cNvPr id="37" name="footer-6">
            <a:extLst xmlns:a="http://schemas.openxmlformats.org/drawingml/2006/main">
              <a:ext uri="{FF2B5EF4-FFF2-40B4-BE49-F238E27FC236}">
                <a16:creationId xmlns:a16="http://schemas.microsoft.com/office/drawing/2014/main" id="{9D05D65E-9896-43A1-82C9-6F0CF517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38" name="footer-text-6">
            <a:extLst xmlns:a="http://schemas.openxmlformats.org/drawingml/2006/main">
              <a:ext uri="{FF2B5EF4-FFF2-40B4-BE49-F238E27FC236}">
                <a16:creationId xmlns:a16="http://schemas.microsoft.com/office/drawing/2014/main" id="{EC3B37EE-D088-4C74-B3A1-6076C86F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39" name="page-6">
            <a:extLst xmlns:a="http://schemas.openxmlformats.org/drawingml/2006/main">
              <a:ext uri="{FF2B5EF4-FFF2-40B4-BE49-F238E27FC236}">
                <a16:creationId xmlns:a16="http://schemas.microsoft.com/office/drawing/2014/main" id="{C8FE9362-0167-4896-9C36-8A3C2670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972314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7">
            <a:extLst xmlns:a="http://schemas.openxmlformats.org/drawingml/2006/main">
              <a:ext uri="{FF2B5EF4-FFF2-40B4-BE49-F238E27FC236}">
                <a16:creationId xmlns:a16="http://schemas.microsoft.com/office/drawing/2014/main" id="{4CB6F32E-7F4A-4F6E-87F7-90406D3E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B5ED7"/>
                </a:solidFill>
              </a:defRPr>
            </a:pPr>
            <a:r>
              <a:rPr sz="975" b="1">
                <a:solidFill>
                  <a:srgbClr val="0B5ED7"/>
                </a:solidFill>
              </a:rPr>
              <a:t>06 · PLAN DE ACCIÓN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73F41DA3-09A7-4CA5-95A2-BA9C7E40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D3F"/>
                </a:solidFill>
              </a:defRPr>
            </a:pPr>
            <a:r>
              <a:rPr sz="2850" b="1">
                <a:solidFill>
                  <a:srgbClr val="111D3F"/>
                </a:solidFill>
              </a:rPr>
              <a:t>La propuesta transforma el diagnóstico en mantenimiento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C440C033-63AA-4D17-B008-B315EFDB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4" name="plan-1">
            <a:extLst xmlns:a="http://schemas.openxmlformats.org/drawingml/2006/main">
              <a:ext uri="{FF2B5EF4-FFF2-40B4-BE49-F238E27FC236}">
                <a16:creationId xmlns:a16="http://schemas.microsoft.com/office/drawing/2014/main" id="{F5DBFE7B-5662-4A01-9C4E-27BA76D4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5" name="plan-accent-1">
            <a:extLst xmlns:a="http://schemas.openxmlformats.org/drawingml/2006/main">
              <a:ext uri="{FF2B5EF4-FFF2-40B4-BE49-F238E27FC236}">
                <a16:creationId xmlns:a16="http://schemas.microsoft.com/office/drawing/2014/main" id="{0A45CE4E-05AB-4B74-9A39-AC503F53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ED7"/>
          </a:solidFill>
          <a:ln xmlns:a="http://schemas.openxmlformats.org/drawingml/2006/main" w="9525">
            <a:solidFill>
              <a:srgbClr val="0B5ED7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D05616C1-AA75-412B-B6EB-87FEBFE9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D3F"/>
                </a:solidFill>
              </a:defRPr>
            </a:pPr>
            <a:r>
              <a:rPr sz="1650" b="1">
                <a:solidFill>
                  <a:srgbClr val="111D3F"/>
                </a:solidFill>
              </a:rPr>
              <a:t>Acción inmediata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6D8DFB4-E9E8-4EA9-B459-AD092316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94310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¿Qué se debe limpiar, ajustar, reemplazar, lubricar o comprobar?</a:t>
            </a:r>
          </a:p>
        </p:txBody>
      </p:sp>
      <p:sp>
        <p:nvSpPr>
          <p:cNvPr id="8" name="plan-2">
            <a:extLst xmlns:a="http://schemas.openxmlformats.org/drawingml/2006/main">
              <a:ext uri="{FF2B5EF4-FFF2-40B4-BE49-F238E27FC236}">
                <a16:creationId xmlns:a16="http://schemas.microsoft.com/office/drawing/2014/main" id="{771B4D16-774C-4CBA-AF54-B3F0E97F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9" name="plan-accent-2">
            <a:extLst xmlns:a="http://schemas.openxmlformats.org/drawingml/2006/main">
              <a:ext uri="{FF2B5EF4-FFF2-40B4-BE49-F238E27FC236}">
                <a16:creationId xmlns:a16="http://schemas.microsoft.com/office/drawing/2014/main" id="{8577BACB-8A7E-4EB2-8EAF-A03185A2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825C"/>
          </a:solidFill>
          <a:ln xmlns:a="http://schemas.openxmlformats.org/drawingml/2006/main" w="9525">
            <a:solidFill>
              <a:srgbClr val="17825C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D9209CE9-CA3A-498B-B2E2-06683331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D3F"/>
                </a:solidFill>
              </a:defRPr>
            </a:pPr>
            <a:r>
              <a:rPr sz="1650" b="1">
                <a:solidFill>
                  <a:srgbClr val="111D3F"/>
                </a:solidFill>
              </a:rPr>
              <a:t>Prevención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681A667-571A-4200-9EEC-5B849056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25755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¿Qué tarea periódica evitaría que el problema reaparezca?</a:t>
            </a:r>
          </a:p>
        </p:txBody>
      </p:sp>
      <p:sp>
        <p:nvSpPr>
          <p:cNvPr id="12" name="plan-3">
            <a:extLst xmlns:a="http://schemas.openxmlformats.org/drawingml/2006/main">
              <a:ext uri="{FF2B5EF4-FFF2-40B4-BE49-F238E27FC236}">
                <a16:creationId xmlns:a16="http://schemas.microsoft.com/office/drawing/2014/main" id="{184B74FA-73C7-4465-93AD-358901AD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D9E1EC"/>
            </a:solidFill>
            <a:prstDash val="solid"/>
          </a:ln>
        </p:spPr>
      </p:sp>
      <p:sp>
        <p:nvSpPr>
          <p:cNvPr id="13" name="plan-accent-3">
            <a:extLst xmlns:a="http://schemas.openxmlformats.org/drawingml/2006/main">
              <a:ext uri="{FF2B5EF4-FFF2-40B4-BE49-F238E27FC236}">
                <a16:creationId xmlns:a16="http://schemas.microsoft.com/office/drawing/2014/main" id="{79A187B2-C6CA-423F-A016-345031F7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14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4040"/>
          </a:solidFill>
          <a:ln xmlns:a="http://schemas.openxmlformats.org/drawingml/2006/main" w="9525">
            <a:solidFill>
              <a:srgbClr val="B64040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CAAC3E96-5E5D-480B-A0E4-68F6A14A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D3F"/>
                </a:solidFill>
              </a:defRPr>
            </a:pPr>
            <a:r>
              <a:rPr sz="1650" b="1">
                <a:solidFill>
                  <a:srgbClr val="111D3F"/>
                </a:solidFill>
              </a:rPr>
              <a:t>Seguridad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35B2B96-C5D4-4ADE-9C89-0A15726F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72000"/>
            <a:ext cx="704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7A"/>
                </a:solidFill>
              </a:defRPr>
            </a:pPr>
            <a:r>
              <a:rPr sz="1350" b="0">
                <a:solidFill>
                  <a:srgbClr val="53627A"/>
                </a:solidFill>
              </a:rPr>
              <a:t>¿Qué riesgo, EPP y control deben considerarse?</a:t>
            </a:r>
          </a:p>
        </p:txBody>
      </p:sp>
      <p:sp>
        <p:nvSpPr>
          <p:cNvPr id="16" name="feasibility">
            <a:extLst xmlns:a="http://schemas.openxmlformats.org/drawingml/2006/main">
              <a:ext uri="{FF2B5EF4-FFF2-40B4-BE49-F238E27FC236}">
                <a16:creationId xmlns:a16="http://schemas.microsoft.com/office/drawing/2014/main" id="{01BB97B7-C7A4-41C0-8362-ABB8F3FD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8DD"/>
          </a:solidFill>
          <a:ln xmlns:a="http://schemas.openxmlformats.org/drawingml/2006/main" w="9525">
            <a:solidFill>
              <a:srgbClr val="E9D388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1C52451-701B-48C5-B1E5-EE176654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57875"/>
            <a:ext cx="1055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05414"/>
                </a:solidFill>
              </a:defRPr>
            </a:pPr>
            <a:r>
              <a:rPr sz="1275" b="1">
                <a:solidFill>
                  <a:srgbClr val="705414"/>
                </a:solidFill>
              </a:rPr>
              <a:t>La recomendación debe ser viable para el taller y coherente con la evidencia presentada.</a:t>
            </a:r>
          </a:p>
        </p:txBody>
      </p:sp>
      <p:sp>
        <p:nvSpPr>
          <p:cNvPr id="18" name="footer-7">
            <a:extLst xmlns:a="http://schemas.openxmlformats.org/drawingml/2006/main">
              <a:ext uri="{FF2B5EF4-FFF2-40B4-BE49-F238E27FC236}">
                <a16:creationId xmlns:a16="http://schemas.microsoft.com/office/drawing/2014/main" id="{114800B8-68AA-49A4-983D-F114E27E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1035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3F"/>
          </a:solidFill>
          <a:ln xmlns:a="http://schemas.openxmlformats.org/drawingml/2006/main" w="9525">
            <a:solidFill>
              <a:srgbClr val="111D3F"/>
            </a:solidFill>
            <a:prstDash val="solid"/>
          </a:ln>
        </p:spPr>
      </p:sp>
      <p:sp>
        <p:nvSpPr>
          <p:cNvPr id="19" name="footer-text-7">
            <a:extLst xmlns:a="http://schemas.openxmlformats.org/drawingml/2006/main">
              <a:ext uri="{FF2B5EF4-FFF2-40B4-BE49-F238E27FC236}">
                <a16:creationId xmlns:a16="http://schemas.microsoft.com/office/drawing/2014/main" id="{B327FB6A-CC62-47A8-B54C-571B16C2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3°A TP · Mecánica Industrial · Defensa técnica oral</a:t>
            </a:r>
          </a:p>
        </p:txBody>
      </p:sp>
      <p:sp>
        <p:nvSpPr>
          <p:cNvPr id="20" name="page-7">
            <a:extLst xmlns:a="http://schemas.openxmlformats.org/drawingml/2006/main">
              <a:ext uri="{FF2B5EF4-FFF2-40B4-BE49-F238E27FC236}">
                <a16:creationId xmlns:a16="http://schemas.microsoft.com/office/drawing/2014/main" id="{7C4B7D07-4C02-4415-BA6B-36C9F603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4845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5C235"/>
                </a:solidFill>
              </a:defRPr>
            </a:pPr>
            <a:r>
              <a:rPr sz="825" b="1">
                <a:solidFill>
                  <a:srgbClr val="F5C23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348699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D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958F8B40-7ACE-43A4-9DA2-924CDCC0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096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La intervención permite concluir y decidir</a:t>
            </a:r>
          </a:p>
        </p:txBody>
      </p:sp>
      <p:sp>
        <p:nvSpPr>
          <p:cNvPr id="2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6DB673C2-75A3-4258-AAF4-E7FEB40C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4478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C235"/>
          </a:solidFill>
          <a:ln xmlns:a="http://schemas.openxmlformats.org/drawingml/2006/main" w="9525">
            <a:solidFill>
              <a:srgbClr val="F5C235"/>
            </a:solidFill>
            <a:prstDash val="solid"/>
          </a:ln>
        </p:spPr>
      </p:sp>
      <p:sp>
        <p:nvSpPr>
          <p:cNvPr id="3" name="conclusion-1">
            <a:extLst xmlns:a="http://schemas.openxmlformats.org/drawingml/2006/main">
              <a:ext uri="{FF2B5EF4-FFF2-40B4-BE49-F238E27FC236}">
                <a16:creationId xmlns:a16="http://schemas.microsoft.com/office/drawing/2014/main" id="{412793D4-F338-4866-9686-0B298B69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365181"/>
            </a:solidFill>
            <a:prstDash val="solid"/>
          </a:ln>
        </p:spPr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72B9309-1A18-4B36-B117-9A4FFE28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1 · Qué condición técnica comprobaron.</a:t>
            </a:r>
          </a:p>
        </p:txBody>
      </p:sp>
      <p:sp>
        <p:nvSpPr>
          <p:cNvPr id="5" name="conclusion-2">
            <a:extLst xmlns:a="http://schemas.openxmlformats.org/drawingml/2006/main">
              <a:ext uri="{FF2B5EF4-FFF2-40B4-BE49-F238E27FC236}">
                <a16:creationId xmlns:a16="http://schemas.microsoft.com/office/drawing/2014/main" id="{80CC69D4-BF27-428E-B821-2845EA13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365181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61D68A90-A17A-4565-A4BA-FE0CE3FB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289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2 · Qué evidencia fue decisiva para el diagnóstico.</a:t>
            </a:r>
          </a:p>
        </p:txBody>
      </p:sp>
      <p:sp>
        <p:nvSpPr>
          <p:cNvPr id="7" name="conclusion-3">
            <a:extLst xmlns:a="http://schemas.openxmlformats.org/drawingml/2006/main">
              <a:ext uri="{FF2B5EF4-FFF2-40B4-BE49-F238E27FC236}">
                <a16:creationId xmlns:a16="http://schemas.microsoft.com/office/drawing/2014/main" id="{0836A67D-B486-4F64-9A2C-67CEF071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239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B2E5A"/>
          </a:solidFill>
          <a:ln xmlns:a="http://schemas.openxmlformats.org/drawingml/2006/main" w="9525">
            <a:solidFill>
              <a:srgbClr val="365181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2ADF824-0CFA-4B21-AE87-D5B2E61B4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670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3 · Qué acción recomiendan y por qué.</a:t>
            </a:r>
          </a:p>
        </p:txBody>
      </p:sp>
      <p:sp>
        <p:nvSpPr>
          <p:cNvPr id="9" name="question-panel">
            <a:extLst xmlns:a="http://schemas.openxmlformats.org/drawingml/2006/main">
              <a:ext uri="{FF2B5EF4-FFF2-40B4-BE49-F238E27FC236}">
                <a16:creationId xmlns:a16="http://schemas.microsoft.com/office/drawing/2014/main" id="{9F0271DE-E65A-4746-A18F-45F73EDC9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33550"/>
            <a:ext cx="32766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f434074534bba"/>
          <a:stretch xmlns:a="http://schemas.openxmlformats.org/drawingml/2006/main"/>
        </p:blipFill>
        <p:spPr>
          <a:xfrm xmlns:a="http://schemas.openxmlformats.org/drawingml/2006/main">
            <a:off x="9315450" y="20383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DC8BA3C-182A-4195-992D-34FE768F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6235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D3F"/>
                </a:solidFill>
              </a:defRPr>
            </a:pPr>
            <a:r>
              <a:rPr sz="2400" b="1">
                <a:solidFill>
                  <a:srgbClr val="111D3F"/>
                </a:solidFill>
              </a:rPr>
              <a:t>Preguntas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108ABE3-3A81-4130-9AE5-950015E6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0"/>
            <a:ext cx="2552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27A"/>
                </a:solidFill>
              </a:defRPr>
            </a:pPr>
            <a:r>
              <a:rPr sz="1200" b="0">
                <a:solidFill>
                  <a:srgbClr val="53627A"/>
                </a:solidFill>
              </a:rPr>
              <a:t>El equipo responde utilizando evidencia del informe y del trabajo realizado.</a:t>
            </a:r>
          </a:p>
        </p:txBody>
      </p:sp>
      <p:sp>
        <p:nvSpPr>
          <p:cNvPr id="13" name="final-callout">
            <a:extLst xmlns:a="http://schemas.openxmlformats.org/drawingml/2006/main">
              <a:ext uri="{FF2B5EF4-FFF2-40B4-BE49-F238E27FC236}">
                <a16:creationId xmlns:a16="http://schemas.microsoft.com/office/drawing/2014/main" id="{3D96C81F-D7B7-48F7-86AC-3F33A103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C235"/>
                </a:solidFill>
              </a:defRPr>
            </a:pPr>
            <a:r>
              <a:rPr sz="1575" b="1">
                <a:solidFill>
                  <a:srgbClr val="F5C235"/>
                </a:solidFill>
              </a:rPr>
              <a:t>Defiendan las decisiones técnicas; no repitan de memoria.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6987D0B-994F-47D2-8060-32B74576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FC0DA"/>
                </a:solidFill>
              </a:defRPr>
            </a:pPr>
            <a:r>
              <a:rPr sz="975" b="0">
                <a:solidFill>
                  <a:srgbClr val="AFC0DA"/>
                </a:solidFill>
              </a:rPr>
              <a:t>Centro Educativo Salesianos Talca · 2026</a:t>
            </a:r>
          </a:p>
        </p:txBody>
      </p:sp>
    </p:spTree>
    <p:extLst>
      <p:ext uri="{BB962C8B-B14F-4D97-AF65-F5344CB8AC3E}">
        <p14:creationId xmlns:p14="http://schemas.microsoft.com/office/powerpoint/2010/main" val="17747530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2026-07-24T12:43:41.1790000Z</dcterms:created>
  <dcterms:modified xsi:type="dcterms:W3CDTF">2026-07-24T12:43:41.1790000Z</dcterms:modified>
</coreProperties>
</file>