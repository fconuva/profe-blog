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e45ce2b44c4770" /><Relationship Type="http://schemas.openxmlformats.org/officeDocument/2006/relationships/extended-properties" Target="/docProps/app.xml" Id="R8de536fa39d548e1" /><Relationship Type="http://schemas.openxmlformats.org/officeDocument/2006/relationships/officeDocument" Target="/ppt/presentation.xml" Id="R9e5b2d13f04e45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6b447c4daf4ff5"/>
  </p:sldMasterIdLst>
  <p:notesMasterIdLst>
    <p:notesMasterId xmlns:r="http://schemas.openxmlformats.org/officeDocument/2006/relationships" r:id="R723068ea5ac94ada"/>
  </p:notesMasterIdLst>
  <p:sldIdLst>
    <p:sldId xmlns:r="http://schemas.openxmlformats.org/officeDocument/2006/relationships" id="256" r:id="Rf249e4df051a41b8"/>
    <p:sldId xmlns:r="http://schemas.openxmlformats.org/officeDocument/2006/relationships" id="257" r:id="R1461d89547b04745"/>
    <p:sldId xmlns:r="http://schemas.openxmlformats.org/officeDocument/2006/relationships" id="258" r:id="R99d0b839b4d44095"/>
    <p:sldId xmlns:r="http://schemas.openxmlformats.org/officeDocument/2006/relationships" id="259" r:id="Rc7e86fa460974957"/>
    <p:sldId xmlns:r="http://schemas.openxmlformats.org/officeDocument/2006/relationships" id="260" r:id="Rd9427d84e53c4a7a"/>
    <p:sldId xmlns:r="http://schemas.openxmlformats.org/officeDocument/2006/relationships" id="261" r:id="Rac36e38929dd40a3"/>
    <p:sldId xmlns:r="http://schemas.openxmlformats.org/officeDocument/2006/relationships" id="262" r:id="R384112d0a0da4e0e"/>
    <p:sldId xmlns:r="http://schemas.openxmlformats.org/officeDocument/2006/relationships" id="263" r:id="Rd2695eb23af947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94afa88ea84811" /><Relationship Type="http://schemas.openxmlformats.org/officeDocument/2006/relationships/slideMaster" Target="/ppt/slideMasters/slideMaster1.xml" Id="R036b447c4daf4ff5" /><Relationship Type="http://schemas.openxmlformats.org/officeDocument/2006/relationships/notesMaster" Target="/ppt/notesMasters/notesMaster1.xml" Id="R723068ea5ac94ada" /><Relationship Type="http://schemas.openxmlformats.org/officeDocument/2006/relationships/presProps" Target="/ppt/presProps.xml" Id="Raec80e2f069046c6" /><Relationship Type="http://schemas.openxmlformats.org/officeDocument/2006/relationships/tableStyles" Target="/ppt/tableStyles.xml" Id="R99fec30ace6c4131" /><Relationship Type="http://schemas.openxmlformats.org/officeDocument/2006/relationships/slide" Target="/ppt/slides/slide1.xml" Id="Rf249e4df051a41b8" /><Relationship Type="http://schemas.openxmlformats.org/officeDocument/2006/relationships/slide" Target="/ppt/slides/slide2.xml" Id="R1461d89547b04745" /><Relationship Type="http://schemas.openxmlformats.org/officeDocument/2006/relationships/slide" Target="/ppt/slides/slide3.xml" Id="R99d0b839b4d44095" /><Relationship Type="http://schemas.openxmlformats.org/officeDocument/2006/relationships/slide" Target="/ppt/slides/slide4.xml" Id="Rc7e86fa460974957" /><Relationship Type="http://schemas.openxmlformats.org/officeDocument/2006/relationships/slide" Target="/ppt/slides/slide5.xml" Id="Rd9427d84e53c4a7a" /><Relationship Type="http://schemas.openxmlformats.org/officeDocument/2006/relationships/slide" Target="/ppt/slides/slide6.xml" Id="Rac36e38929dd40a3" /><Relationship Type="http://schemas.openxmlformats.org/officeDocument/2006/relationships/slide" Target="/ppt/slides/slide7.xml" Id="R384112d0a0da4e0e" /><Relationship Type="http://schemas.openxmlformats.org/officeDocument/2006/relationships/slide" Target="/ppt/slides/slide8.xml" Id="Rd2695eb23af947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c860b4e6a444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d4c038f8084492" /><Relationship Type="http://schemas.openxmlformats.org/officeDocument/2006/relationships/notesMaster" Target="/ppt/notesMasters/notesMaster1.xml" Id="R8f407589698949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ddb1e6f52742d3" /><Relationship Type="http://schemas.openxmlformats.org/officeDocument/2006/relationships/notesMaster" Target="/ppt/notesMasters/notesMaster1.xml" Id="Re0e2e1fdc8ff46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4e428bd3554a1e" /><Relationship Type="http://schemas.openxmlformats.org/officeDocument/2006/relationships/notesMaster" Target="/ppt/notesMasters/notesMaster1.xml" Id="R239f64be71514f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4e29a8cf054303" /><Relationship Type="http://schemas.openxmlformats.org/officeDocument/2006/relationships/notesMaster" Target="/ppt/notesMasters/notesMaster1.xml" Id="R711023c24d3c44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94e3e5b8364fff" /><Relationship Type="http://schemas.openxmlformats.org/officeDocument/2006/relationships/notesMaster" Target="/ppt/notesMasters/notesMaster1.xml" Id="Rb34d37058ffc46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fa352203254b1e" /><Relationship Type="http://schemas.openxmlformats.org/officeDocument/2006/relationships/notesMaster" Target="/ppt/notesMasters/notesMaster1.xml" Id="R88053a0fe59849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e1286011a14c92" /><Relationship Type="http://schemas.openxmlformats.org/officeDocument/2006/relationships/notesMaster" Target="/ppt/notesMasters/notesMaster1.xml" Id="R5edb8060afd84d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bc5aa177ec4c1e" /><Relationship Type="http://schemas.openxmlformats.org/officeDocument/2006/relationships/notesMaster" Target="/ppt/notesMasters/notesMaster1.xml" Id="R434af543c9b148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Completen la fecha antes de presentar.</a:t>
            </a:r>
          </a:p>
          <a:p xmlns:a="http://schemas.openxmlformats.org/drawingml/2006/main">
            <a:r>
              <a:t>Inicia un integrante presentando el equipo, la máquina o conjunto y el propósito de la defensa.</a:t>
            </a:r>
          </a:p>
          <a:p xmlns:a="http://schemas.openxmlformats.org/drawingml/2006/main">
            <a:r>
              <a:t>No lean la lista de integrantes: cada estudiante se identifica al comenzar su intervención.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Reemplacen los textos guía por información del informe entregado.</a:t>
            </a:r>
          </a:p>
          <a:p xmlns:a="http://schemas.openxmlformats.org/drawingml/2006/main">
            <a:r>
              <a:t>Usen una fotografía propia y legible, no una imagen decorativa de internet.</a:t>
            </a:r>
          </a:p>
          <a:p xmlns:a="http://schemas.openxmlformats.org/drawingml/2006/main">
            <a:r>
              <a:t>La explicación debe relacionar función, uso industrial y necesidad de mantenimiento.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Copien el objetivo general aprobado en el informe y reduzcan su extensión para la diapositiva.</a:t>
            </a:r>
          </a:p>
          <a:p xmlns:a="http://schemas.openxmlformats.org/drawingml/2006/main">
            <a:r>
              <a:t>Cada acción específica debe comenzar con un verbo técnico.</a:t>
            </a:r>
          </a:p>
          <a:p xmlns:a="http://schemas.openxmlformats.org/drawingml/2006/main">
            <a:r>
              <a:t>Definan antes del ensayo quién explica cada sección; todos deben intervenir.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Sinteticen el procedimiento: no copien el informe completo.</a:t>
            </a:r>
          </a:p>
          <a:p xmlns:a="http://schemas.openxmlformats.org/drawingml/2006/main">
            <a:r>
              <a:t>Usen verbos precisos: inspeccionar, desmontar, medir, limpiar, lubricar, ajustar, ensamblar.</a:t>
            </a:r>
          </a:p>
          <a:p xmlns:a="http://schemas.openxmlformats.org/drawingml/2006/main">
            <a:r>
              <a:t>Mencionen al menos un riesgo y la medida de control aplicada.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Usen fotografías del trabajo real del grupo.</a:t>
            </a:r>
          </a:p>
          <a:p xmlns:a="http://schemas.openxmlformats.org/drawingml/2006/main">
            <a:r>
              <a:t>Recorten la imagen para que el detalle relevante se vea con claridad.</a:t>
            </a:r>
          </a:p>
          <a:p xmlns:a="http://schemas.openxmlformats.org/drawingml/2006/main">
            <a:r>
              <a:t>No describan solo lo visible: relacionen cada foto con el procedimiento o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diagnóstico no puede basarse solo en una opinión.</a:t>
            </a:r>
          </a:p>
          <a:p xmlns:a="http://schemas.openxmlformats.org/drawingml/2006/main">
            <a:r>
              <a:t>Cada hallazgo debe vincularse con una evidencia concreta y una causa técnicamente plausible.</a:t>
            </a:r>
          </a:p>
          <a:p xmlns:a="http://schemas.openxmlformats.org/drawingml/2006/main">
            <a:r>
              <a:t>Si no hubo una falla, expliquen qué condición se comprobó y con qué indicador.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Ordenen las medidas desde la más urgente hasta la preventiva.</a:t>
            </a:r>
          </a:p>
          <a:p xmlns:a="http://schemas.openxmlformats.org/drawingml/2006/main">
            <a:r>
              <a:t>Eviten recomendaciones generales como 'hacer mantenimiento'; indiquen acción, componente y propósito.</a:t>
            </a:r>
          </a:p>
          <a:p xmlns:a="http://schemas.openxmlformats.org/drawingml/2006/main">
            <a:r>
              <a:t>Justifiquen la propuesta con los hallazgos de la diapositiva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Cierren retomando el objetivo general y respondan si se cumplió.</a:t>
            </a:r>
          </a:p>
          <a:p xmlns:a="http://schemas.openxmlformats.org/drawingml/2006/main">
            <a:r>
              <a:t>No terminen con 'eso sería todo': formulen una recomendación concreta.</a:t>
            </a:r>
          </a:p>
          <a:p xmlns:a="http://schemas.openxmlformats.org/drawingml/2006/main">
            <a:r>
              <a:t>Durante las preguntas, quien conozca mejor la evidencia puede iniciar la respuesta y otro integrante puede complementarla.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1051c5e0d4c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8d6ee3d2644e63" /><Relationship Type="http://schemas.openxmlformats.org/officeDocument/2006/relationships/slideLayout" Target="/ppt/slideLayouts/slideLayout1.xml" Id="R656c7df0373340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6c7df0373340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77224a92749e5" /><Relationship Type="http://schemas.openxmlformats.org/officeDocument/2006/relationships/image" Target="/ppt/media/image.bin" Id="R70330fffa1e94ea9" /><Relationship Type="http://schemas.openxmlformats.org/officeDocument/2006/relationships/image" Target="/ppt/media/image.png" Id="Red09da7bf55e47ca" /><Relationship Type="http://schemas.openxmlformats.org/officeDocument/2006/relationships/notesSlide" Target="/ppt/notesSlides/notesSlide1.xml" Id="R5f36952e8d054a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421a937334b88" /><Relationship Type="http://schemas.openxmlformats.org/officeDocument/2006/relationships/notesSlide" Target="/ppt/notesSlides/notesSlide2.xml" Id="Rcc2a5beff8424f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fc4b64db446e3" /><Relationship Type="http://schemas.openxmlformats.org/officeDocument/2006/relationships/notesSlide" Target="/ppt/notesSlides/notesSlide3.xml" Id="Re94f5d82b71448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c1a44368f4494" /><Relationship Type="http://schemas.openxmlformats.org/officeDocument/2006/relationships/notesSlide" Target="/ppt/notesSlides/notesSlide4.xml" Id="Re958270e54af4d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6de4bb95c4792" /><Relationship Type="http://schemas.openxmlformats.org/officeDocument/2006/relationships/notesSlide" Target="/ppt/notesSlides/notesSlide5.xml" Id="Rfd94b5321fd24c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c0a70dad34b4c" /><Relationship Type="http://schemas.openxmlformats.org/officeDocument/2006/relationships/notesSlide" Target="/ppt/notesSlides/notesSlide6.xml" Id="Rb2ff8b33628c49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77789b9574fb2" /><Relationship Type="http://schemas.openxmlformats.org/officeDocument/2006/relationships/notesSlide" Target="/ppt/notesSlides/notesSlide7.xml" Id="R5f082e28313840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f2ffc3c804c4b" /><Relationship Type="http://schemas.openxmlformats.org/officeDocument/2006/relationships/image" Target="/ppt/media/image2.bin" Id="R93b61e67ece54c2a" /><Relationship Type="http://schemas.openxmlformats.org/officeDocument/2006/relationships/notesSlide" Target="/ppt/notesSlides/notesSlide8.xml" Id="Redc5ea3c912d41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ld-edge">
            <a:extLst xmlns:a="http://schemas.openxmlformats.org/drawingml/2006/main">
              <a:ext uri="{FF2B5EF4-FFF2-40B4-BE49-F238E27FC236}">
                <a16:creationId xmlns:a16="http://schemas.microsoft.com/office/drawing/2014/main" id="{6321F697-446A-400E-AE36-36C53C8C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30fffa1e94ea9"/>
          <a:stretch xmlns:a="http://schemas.openxmlformats.org/drawingml/2006/main"/>
        </p:blipFill>
        <p:spPr>
          <a:xfrm xmlns:a="http://schemas.openxmlformats.org/drawingml/2006/main">
            <a:off x="666750" y="5524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cest-frame">
            <a:extLst xmlns:a="http://schemas.openxmlformats.org/drawingml/2006/main">
              <a:ext uri="{FF2B5EF4-FFF2-40B4-BE49-F238E27FC236}">
                <a16:creationId xmlns:a16="http://schemas.microsoft.com/office/drawing/2014/main" id="{FC262EE8-9440-4D05-A22C-143ED53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8150"/>
            <a:ext cx="1104900" cy="1276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9da7bf55e47ca"/>
          <a:stretch xmlns:a="http://schemas.openxmlformats.org/drawingml/2006/main"/>
        </p:blipFill>
        <p:spPr>
          <a:xfrm xmlns:a="http://schemas.openxmlformats.org/drawingml/2006/main">
            <a:off x="10439400" y="571302"/>
            <a:ext cx="800100" cy="1010046"/>
          </a:xfrm>
          <a:prstGeom xmlns:a="http://schemas.openxmlformats.org/drawingml/2006/main" prst="rect">
            <a:avLst/>
          </a:prstGeom>
        </p:spPr>
      </p:pic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171D0CC2-0B06-49BF-99A6-FB5230AB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DEFENSA TÉCNICA ORAL</a:t>
            </a:r>
          </a:p>
        </p:txBody>
      </p:sp>
      <p:sp>
        <p:nvSpPr>
          <p:cNvPr id="6" name="group-topic">
            <a:extLst xmlns:a="http://schemas.openxmlformats.org/drawingml/2006/main">
              <a:ext uri="{FF2B5EF4-FFF2-40B4-BE49-F238E27FC236}">
                <a16:creationId xmlns:a16="http://schemas.microsoft.com/office/drawing/2014/main" id="{7EA5F6F3-4B50-4850-8269-123F6837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C235"/>
                </a:solidFill>
              </a:defRPr>
            </a:pPr>
            <a:r>
              <a:rPr sz="2325" b="1">
                <a:solidFill>
                  <a:srgbClr val="F5C235"/>
                </a:solidFill>
              </a:rPr>
              <a:t>Bomba centrífuga de eje horizontal</a:t>
            </a:r>
          </a:p>
        </p:txBody>
      </p:sp>
      <p:sp>
        <p:nvSpPr>
          <p:cNvPr id="7" name="group-id">
            <a:extLst xmlns:a="http://schemas.openxmlformats.org/drawingml/2006/main">
              <a:ext uri="{FF2B5EF4-FFF2-40B4-BE49-F238E27FC236}">
                <a16:creationId xmlns:a16="http://schemas.microsoft.com/office/drawing/2014/main" id="{9C98FA8A-B4F9-476D-A4F2-DBE340F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Grupo 8</a:t>
            </a:r>
          </a:p>
        </p:txBody>
      </p:sp>
      <p:sp>
        <p:nvSpPr>
          <p:cNvPr id="8" name="group-members">
            <a:extLst xmlns:a="http://schemas.openxmlformats.org/drawingml/2006/main">
              <a:ext uri="{FF2B5EF4-FFF2-40B4-BE49-F238E27FC236}">
                <a16:creationId xmlns:a16="http://schemas.microsoft.com/office/drawing/2014/main" id="{2878912B-0EB6-4A7C-BC9C-717F6AAD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6"/>
                </a:solidFill>
              </a:defRPr>
            </a:pPr>
            <a:r>
              <a:rPr sz="1350" b="0">
                <a:solidFill>
                  <a:srgbClr val="DCE6F6"/>
                </a:solidFill>
              </a:rPr>
              <a:t>Maximiliano Valle González · Tomás Valenzuela Rojas · Mahikol Quinteros Torres · Martín Sanhueza Arancibia · Agustín San Martín Valenzuela</a:t>
            </a:r>
          </a:p>
        </p:txBody>
      </p:sp>
      <p:sp>
        <p:nvSpPr>
          <p:cNvPr id="9" name="institution">
            <a:extLst xmlns:a="http://schemas.openxmlformats.org/drawingml/2006/main">
              <a:ext uri="{FF2B5EF4-FFF2-40B4-BE49-F238E27FC236}">
                <a16:creationId xmlns:a16="http://schemas.microsoft.com/office/drawing/2014/main" id="{D70F6670-CF1F-4E56-8716-970F70B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Lengua y Literatura / Mecánica Industrial · 2026</a:t>
            </a:r>
          </a:p>
        </p:txBody>
      </p:sp>
    </p:spTree>
    <p:extLst>
      <p:ext uri="{BB962C8B-B14F-4D97-AF65-F5344CB8AC3E}">
        <p14:creationId xmlns:p14="http://schemas.microsoft.com/office/powerpoint/2010/main" val="1850226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2">
            <a:extLst xmlns:a="http://schemas.openxmlformats.org/drawingml/2006/main">
              <a:ext uri="{FF2B5EF4-FFF2-40B4-BE49-F238E27FC236}">
                <a16:creationId xmlns:a16="http://schemas.microsoft.com/office/drawing/2014/main" id="{C8804F1E-7AC0-418C-B46E-B9D21FE3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01 · CONTEXTO TÉCNICO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48624C3-D9AB-4734-82EA-6063CEDA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conjunto cumple una función necesaria en el sistema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077F8FCD-1022-41B9-A0F3-E2DAFC90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machine-photo">
            <a:extLst xmlns:a="http://schemas.openxmlformats.org/drawingml/2006/main">
              <a:ext uri="{FF2B5EF4-FFF2-40B4-BE49-F238E27FC236}">
                <a16:creationId xmlns:a16="http://schemas.microsoft.com/office/drawing/2014/main" id="{32169CF7-D217-4E46-808C-31F1072B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47434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machine-photo-label">
            <a:extLst xmlns:a="http://schemas.openxmlformats.org/drawingml/2006/main">
              <a:ext uri="{FF2B5EF4-FFF2-40B4-BE49-F238E27FC236}">
                <a16:creationId xmlns:a16="http://schemas.microsoft.com/office/drawing/2014/main" id="{4D1BE109-E53B-4954-9BB7-7EBA3B48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52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REAL DE LA MÁQUINA O CONJUNTO</a:t>
            </a:r>
          </a:p>
        </p:txBody>
      </p:sp>
      <p:sp>
        <p:nvSpPr>
          <p:cNvPr id="6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DD5B23A2-FF2A-4477-8E8A-4050F37D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EQUIPO O CONJUNTO</a:t>
            </a:r>
          </a:p>
        </p:txBody>
      </p:sp>
      <p:sp>
        <p:nvSpPr>
          <p:cNvPr id="7" name="equipment">
            <a:extLst xmlns:a="http://schemas.openxmlformats.org/drawingml/2006/main">
              <a:ext uri="{FF2B5EF4-FFF2-40B4-BE49-F238E27FC236}">
                <a16:creationId xmlns:a16="http://schemas.microsoft.com/office/drawing/2014/main" id="{E7EAFAD6-2803-44B0-B9E9-2F3B006B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Bomba centrífuga de eje horizontal</a:t>
            </a:r>
          </a:p>
        </p:txBody>
      </p:sp>
      <p:sp>
        <p:nvSpPr>
          <p:cNvPr id="8" name="location-function-label">
            <a:extLst xmlns:a="http://schemas.openxmlformats.org/drawingml/2006/main">
              <a:ext uri="{FF2B5EF4-FFF2-40B4-BE49-F238E27FC236}">
                <a16:creationId xmlns:a16="http://schemas.microsoft.com/office/drawing/2014/main" id="{2AACBD55-FDE0-4138-817A-A88C8164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UBICACIÓN Y FUNCIÓN</a:t>
            </a:r>
          </a:p>
        </p:txBody>
      </p:sp>
      <p:sp>
        <p:nvSpPr>
          <p:cNvPr id="9" name="location-function">
            <a:extLst xmlns:a="http://schemas.openxmlformats.org/drawingml/2006/main">
              <a:ext uri="{FF2B5EF4-FFF2-40B4-BE49-F238E27FC236}">
                <a16:creationId xmlns:a16="http://schemas.microsoft.com/office/drawing/2014/main" id="{AC52AA4A-8990-4E85-91C0-B23135D1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Indiquen dónde se encuentra y qué función cumple dentro del sistema.</a:t>
            </a:r>
          </a:p>
        </p:txBody>
      </p:sp>
      <p:sp>
        <p:nvSpPr>
          <p:cNvPr id="10" name="maintenance-importance-label">
            <a:extLst xmlns:a="http://schemas.openxmlformats.org/drawingml/2006/main">
              <a:ext uri="{FF2B5EF4-FFF2-40B4-BE49-F238E27FC236}">
                <a16:creationId xmlns:a16="http://schemas.microsoft.com/office/drawing/2014/main" id="{AE60BE5E-A5B5-4984-836F-9161B40C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IMPORTANCIA DEL MANTENIMIENTO</a:t>
            </a:r>
          </a:p>
        </p:txBody>
      </p:sp>
      <p:sp>
        <p:nvSpPr>
          <p:cNvPr id="11" name="maintenance-importance">
            <a:extLst xmlns:a="http://schemas.openxmlformats.org/drawingml/2006/main">
              <a:ext uri="{FF2B5EF4-FFF2-40B4-BE49-F238E27FC236}">
                <a16:creationId xmlns:a16="http://schemas.microsoft.com/office/drawing/2014/main" id="{7E49900F-A59B-480D-9E9E-D892F16A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qué podría ocurrir si el componente trabaja con desgaste, desajuste o lubricación deficiente.</a:t>
            </a:r>
          </a:p>
        </p:txBody>
      </p:sp>
      <p:sp>
        <p:nvSpPr>
          <p:cNvPr id="12" name="footer-2">
            <a:extLst xmlns:a="http://schemas.openxmlformats.org/drawingml/2006/main">
              <a:ext uri="{FF2B5EF4-FFF2-40B4-BE49-F238E27FC236}">
                <a16:creationId xmlns:a16="http://schemas.microsoft.com/office/drawing/2014/main" id="{0AF3929E-1C9C-4610-8EC2-68B9925D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3" name="footer-text-2">
            <a:extLst xmlns:a="http://schemas.openxmlformats.org/drawingml/2006/main">
              <a:ext uri="{FF2B5EF4-FFF2-40B4-BE49-F238E27FC236}">
                <a16:creationId xmlns:a16="http://schemas.microsoft.com/office/drawing/2014/main" id="{E7FB13D3-3DF3-4F6D-BEEC-646E41B0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1658B6B6-C123-4A66-B02A-3D624D07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2102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3">
            <a:extLst xmlns:a="http://schemas.openxmlformats.org/drawingml/2006/main">
              <a:ext uri="{FF2B5EF4-FFF2-40B4-BE49-F238E27FC236}">
                <a16:creationId xmlns:a16="http://schemas.microsoft.com/office/drawing/2014/main" id="{AA129A30-A367-4FD7-AEC6-E3D6A9AE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02 · OBJETIVOS Y RESPONSABILIDADES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3D9F7AA-4288-4680-8C58-3C5B515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intervención tuvo un propósito verificable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71A85F5D-675C-4E59-BDCF-049C3D81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general-objective">
            <a:extLst xmlns:a="http://schemas.openxmlformats.org/drawingml/2006/main">
              <a:ext uri="{FF2B5EF4-FFF2-40B4-BE49-F238E27FC236}">
                <a16:creationId xmlns:a16="http://schemas.microsoft.com/office/drawing/2014/main" id="{2FAA222E-ECAD-4562-9620-23042563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0EC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8F9314-C10C-44F9-B31F-0DCF1583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OBJETIVO GENERAL</a:t>
            </a:r>
          </a:p>
        </p:txBody>
      </p:sp>
      <p:sp>
        <p:nvSpPr>
          <p:cNvPr id="6" name="objective-copy">
            <a:extLst xmlns:a="http://schemas.openxmlformats.org/drawingml/2006/main">
              <a:ext uri="{FF2B5EF4-FFF2-40B4-BE49-F238E27FC236}">
                <a16:creationId xmlns:a16="http://schemas.microsoft.com/office/drawing/2014/main" id="{C9172895-5740-4DF3-B0E4-028207DD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Redacten una acción principal que indique qué se inspeccionó, mantuvo o diagnosticó y para qué.</a:t>
            </a:r>
          </a:p>
        </p:txBody>
      </p:sp>
      <p:sp>
        <p:nvSpPr>
          <p:cNvPr id="7" name="action-1">
            <a:extLst xmlns:a="http://schemas.openxmlformats.org/drawingml/2006/main">
              <a:ext uri="{FF2B5EF4-FFF2-40B4-BE49-F238E27FC236}">
                <a16:creationId xmlns:a16="http://schemas.microsoft.com/office/drawing/2014/main" id="{D6D16DFA-E466-4A2C-8C2F-9A59DFE8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6939A45-B1F6-425F-A97F-B26090E6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43C306-7222-494B-9805-AC181340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Acción técnica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0D3100D-B22F-4C15-B507-FB55E972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operación concreta realizaron?</a:t>
            </a:r>
          </a:p>
        </p:txBody>
      </p:sp>
      <p:sp>
        <p:nvSpPr>
          <p:cNvPr id="11" name="action-2">
            <a:extLst xmlns:a="http://schemas.openxmlformats.org/drawingml/2006/main">
              <a:ext uri="{FF2B5EF4-FFF2-40B4-BE49-F238E27FC236}">
                <a16:creationId xmlns:a16="http://schemas.microsoft.com/office/drawing/2014/main" id="{0E0A481F-EEC7-4D69-AD0B-A6FE468A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2098664-9DAC-44FE-BAA9-8579F484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AF5DA59-FE10-4E0E-B8A5-C45BB6ED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Control y evidencia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62E5012-DEF7-4698-8950-5404F1E7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midieron, observaron o registraron?</a:t>
            </a:r>
          </a:p>
        </p:txBody>
      </p:sp>
      <p:sp>
        <p:nvSpPr>
          <p:cNvPr id="15" name="action-3">
            <a:extLst xmlns:a="http://schemas.openxmlformats.org/drawingml/2006/main">
              <a:ext uri="{FF2B5EF4-FFF2-40B4-BE49-F238E27FC236}">
                <a16:creationId xmlns:a16="http://schemas.microsoft.com/office/drawing/2014/main" id="{EB289EF4-6BA1-43C2-A2EB-B48B2C59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0CD9025-A2F5-41E3-A3E8-A8484791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97E9791-07F9-4C5D-9DBD-41F171BC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Resultado esperado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BC4FDF0-F007-4F58-9C7F-3E2BD804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condición buscaban recuperar o comprobar?</a:t>
            </a:r>
          </a:p>
        </p:txBody>
      </p:sp>
      <p:sp>
        <p:nvSpPr>
          <p:cNvPr id="19" name="participation-note">
            <a:extLst xmlns:a="http://schemas.openxmlformats.org/drawingml/2006/main">
              <a:ext uri="{FF2B5EF4-FFF2-40B4-BE49-F238E27FC236}">
                <a16:creationId xmlns:a16="http://schemas.microsoft.com/office/drawing/2014/main" id="{D2828911-8835-4DA8-BC1A-33CE042E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25C"/>
                </a:solidFill>
              </a:defRPr>
            </a:pPr>
            <a:r>
              <a:rPr sz="1350" b="1">
                <a:solidFill>
                  <a:srgbClr val="17825C"/>
                </a:solidFill>
              </a:rPr>
              <a:t>Distribución oral: asignen a cada integrante una sección que pueda explicar y defender.</a:t>
            </a:r>
          </a:p>
        </p:txBody>
      </p:sp>
      <p:sp>
        <p:nvSpPr>
          <p:cNvPr id="20" name="footer-3">
            <a:extLst xmlns:a="http://schemas.openxmlformats.org/drawingml/2006/main">
              <a:ext uri="{FF2B5EF4-FFF2-40B4-BE49-F238E27FC236}">
                <a16:creationId xmlns:a16="http://schemas.microsoft.com/office/drawing/2014/main" id="{9E777223-E588-4EE9-85AE-FB5BA29D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1" name="footer-text-3">
            <a:extLst xmlns:a="http://schemas.openxmlformats.org/drawingml/2006/main">
              <a:ext uri="{FF2B5EF4-FFF2-40B4-BE49-F238E27FC236}">
                <a16:creationId xmlns:a16="http://schemas.microsoft.com/office/drawing/2014/main" id="{5CAE5754-F4A2-415F-A9C9-DB217683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CDCA84E0-E2C8-4978-8C91-AE4B398B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5162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4">
            <a:extLst xmlns:a="http://schemas.openxmlformats.org/drawingml/2006/main">
              <a:ext uri="{FF2B5EF4-FFF2-40B4-BE49-F238E27FC236}">
                <a16:creationId xmlns:a16="http://schemas.microsoft.com/office/drawing/2014/main" id="{65B0F007-BC7C-4340-B460-71E464CA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03 · PROCEDIMIENTO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B45918D-5626-448D-8208-99F8DCA2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procedimiento siguió una secuencia segura y controlada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7012EA48-4212-4CA6-9608-41E9A03C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C90F0C2B-6904-4B3A-9AF6-2B423673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AE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C449232-155E-45C4-8A92-49C1FC28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6B45DB1-02E4-4A2B-A37A-9F9C2C49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Inspección inicial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01C1B75-C452-431D-9FBF-20B00A24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Estado, riesgos y EPP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F1E03C-91EB-4993-A96D-E632DFB3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772522D1-1369-41A7-AE86-C86EA5DF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8BC7F1-2DED-4B42-A3AE-9EC00748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29974E-5A75-4F1D-9A11-C4689D52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Desarme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AF2790-6B4B-4DD5-8BA3-446B9D89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Orden, herramientas y piezas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B207AA6-DA7E-4A63-BE28-BA745590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5D43B9A5-CA16-4202-8D5D-5D8D8B19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3CEF4B0-4F80-458F-9D05-1DB445F0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DD84BD-C110-485D-9FD7-B6E246CE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Limpieza y medición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705D1D1-933A-47EC-9C95-D0481092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Evidencia y tolerancias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AB4AC91-DD15-4DB9-8EC9-C22076B1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F88C40AB-E843-4248-B41F-32DEDD76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D16AF96-CCC2-43DB-8813-BEF63816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F062EE7-597C-413B-9305-F3E5AA26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Reensamble y control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2071479-8F74-4DE4-988B-00F575D5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Ajuste y comprobación</a:t>
            </a:r>
          </a:p>
        </p:txBody>
      </p:sp>
      <p:sp>
        <p:nvSpPr>
          <p:cNvPr id="23" name="procedure-photo">
            <a:extLst xmlns:a="http://schemas.openxmlformats.org/drawingml/2006/main">
              <a:ext uri="{FF2B5EF4-FFF2-40B4-BE49-F238E27FC236}">
                <a16:creationId xmlns:a16="http://schemas.microsoft.com/office/drawing/2014/main" id="{F5A557B1-202E-47D3-85C7-CD96FDD9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8768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procedure-photo-label">
            <a:extLst xmlns:a="http://schemas.openxmlformats.org/drawingml/2006/main">
              <a:ext uri="{FF2B5EF4-FFF2-40B4-BE49-F238E27FC236}">
                <a16:creationId xmlns:a16="http://schemas.microsoft.com/office/drawing/2014/main" id="{779E5DFD-0D9F-40FC-B0A3-A90C5DDF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DEL PROCEDIMIENTO MÁS RELEVANTE</a:t>
            </a:r>
          </a:p>
        </p:txBody>
      </p:sp>
      <p:sp>
        <p:nvSpPr>
          <p:cNvPr id="25" name="technical-decision-label">
            <a:extLst xmlns:a="http://schemas.openxmlformats.org/drawingml/2006/main">
              <a:ext uri="{FF2B5EF4-FFF2-40B4-BE49-F238E27FC236}">
                <a16:creationId xmlns:a16="http://schemas.microsoft.com/office/drawing/2014/main" id="{692510EF-B3D5-483F-992E-E4678B8C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563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DECISIÓN TÉCNICA CLAVE</a:t>
            </a:r>
          </a:p>
        </p:txBody>
      </p:sp>
      <p:sp>
        <p:nvSpPr>
          <p:cNvPr id="26" name="technical-decision">
            <a:extLst xmlns:a="http://schemas.openxmlformats.org/drawingml/2006/main">
              <a:ext uri="{FF2B5EF4-FFF2-40B4-BE49-F238E27FC236}">
                <a16:creationId xmlns:a16="http://schemas.microsoft.com/office/drawing/2014/main" id="{1D27C190-99E7-4068-ABAE-77DB8BC5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48150"/>
            <a:ext cx="563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una decisión tomada durante el procedimiento y qué evidencia la justificó.</a:t>
            </a:r>
          </a:p>
        </p:txBody>
      </p:sp>
      <p:sp>
        <p:nvSpPr>
          <p:cNvPr id="27" name="footer-4">
            <a:extLst xmlns:a="http://schemas.openxmlformats.org/drawingml/2006/main">
              <a:ext uri="{FF2B5EF4-FFF2-40B4-BE49-F238E27FC236}">
                <a16:creationId xmlns:a16="http://schemas.microsoft.com/office/drawing/2014/main" id="{F77E388F-7A0E-4626-84B9-EEE484F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8" name="footer-text-4">
            <a:extLst xmlns:a="http://schemas.openxmlformats.org/drawingml/2006/main">
              <a:ext uri="{FF2B5EF4-FFF2-40B4-BE49-F238E27FC236}">
                <a16:creationId xmlns:a16="http://schemas.microsoft.com/office/drawing/2014/main" id="{9D452BE2-79CF-4FD9-BFFB-8F2D23EC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9" name="page-4">
            <a:extLst xmlns:a="http://schemas.openxmlformats.org/drawingml/2006/main">
              <a:ext uri="{FF2B5EF4-FFF2-40B4-BE49-F238E27FC236}">
                <a16:creationId xmlns:a16="http://schemas.microsoft.com/office/drawing/2014/main" id="{647F116E-85B8-4CE4-A947-60242217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9831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287FD993-F126-422C-A04E-20F62B63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04 · BANCO VISUAL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53EE022-D7C4-49C1-95A5-C781CD66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evidencia permite sostener el diagnóstico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DA04E9CD-D712-4D62-A1D3-109D0CCD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evidence-photo-1">
            <a:extLst xmlns:a="http://schemas.openxmlformats.org/drawingml/2006/main">
              <a:ext uri="{FF2B5EF4-FFF2-40B4-BE49-F238E27FC236}">
                <a16:creationId xmlns:a16="http://schemas.microsoft.com/office/drawing/2014/main" id="{C8A0C2E4-00FF-42E8-8195-2AF6931C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evidence-photo-1-label">
            <a:extLst xmlns:a="http://schemas.openxmlformats.org/drawingml/2006/main">
              <a:ext uri="{FF2B5EF4-FFF2-40B4-BE49-F238E27FC236}">
                <a16:creationId xmlns:a16="http://schemas.microsoft.com/office/drawing/2014/main" id="{30CB2003-553C-4A82-8098-850AE4DE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1 · VISTA GENERAL</a:t>
            </a:r>
          </a:p>
        </p:txBody>
      </p:sp>
      <p:sp>
        <p:nvSpPr>
          <p:cNvPr id="6" name="caption-1">
            <a:extLst xmlns:a="http://schemas.openxmlformats.org/drawingml/2006/main">
              <a:ext uri="{FF2B5EF4-FFF2-40B4-BE49-F238E27FC236}">
                <a16:creationId xmlns:a16="http://schemas.microsoft.com/office/drawing/2014/main" id="{514BABDA-979D-4BC5-8972-4FFCCF8B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parte del sistema permite ubicar?</a:t>
            </a:r>
          </a:p>
        </p:txBody>
      </p:sp>
      <p:sp>
        <p:nvSpPr>
          <p:cNvPr id="7" name="evidence-photo-2">
            <a:extLst xmlns:a="http://schemas.openxmlformats.org/drawingml/2006/main">
              <a:ext uri="{FF2B5EF4-FFF2-40B4-BE49-F238E27FC236}">
                <a16:creationId xmlns:a16="http://schemas.microsoft.com/office/drawing/2014/main" id="{5F76BDE1-EDBC-4868-B655-EB97CAA9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evidence-photo-2-label">
            <a:extLst xmlns:a="http://schemas.openxmlformats.org/drawingml/2006/main">
              <a:ext uri="{FF2B5EF4-FFF2-40B4-BE49-F238E27FC236}">
                <a16:creationId xmlns:a16="http://schemas.microsoft.com/office/drawing/2014/main" id="{B0102695-0A17-429A-91C7-82E1FA72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2 · COMPONENTE</a:t>
            </a:r>
          </a:p>
        </p:txBody>
      </p:sp>
      <p:sp>
        <p:nvSpPr>
          <p:cNvPr id="9" name="caption-2">
            <a:extLst xmlns:a="http://schemas.openxmlformats.org/drawingml/2006/main">
              <a:ext uri="{FF2B5EF4-FFF2-40B4-BE49-F238E27FC236}">
                <a16:creationId xmlns:a16="http://schemas.microsoft.com/office/drawing/2014/main" id="{AF5821DB-7491-43ED-B308-7A3EE0A5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detalle técnico muestra?</a:t>
            </a:r>
          </a:p>
        </p:txBody>
      </p:sp>
      <p:sp>
        <p:nvSpPr>
          <p:cNvPr id="10" name="evidence-photo-3">
            <a:extLst xmlns:a="http://schemas.openxmlformats.org/drawingml/2006/main">
              <a:ext uri="{FF2B5EF4-FFF2-40B4-BE49-F238E27FC236}">
                <a16:creationId xmlns:a16="http://schemas.microsoft.com/office/drawing/2014/main" id="{257F1881-69C7-4571-8F80-98D005EB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1" name="evidence-photo-3-label">
            <a:extLst xmlns:a="http://schemas.openxmlformats.org/drawingml/2006/main">
              <a:ext uri="{FF2B5EF4-FFF2-40B4-BE49-F238E27FC236}">
                <a16:creationId xmlns:a16="http://schemas.microsoft.com/office/drawing/2014/main" id="{83B3D631-6107-49FA-A9B6-058EABE9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3 · HALLAZGO</a:t>
            </a:r>
          </a:p>
        </p:txBody>
      </p:sp>
      <p:sp>
        <p:nvSpPr>
          <p:cNvPr id="12" name="caption-3">
            <a:extLst xmlns:a="http://schemas.openxmlformats.org/drawingml/2006/main">
              <a:ext uri="{FF2B5EF4-FFF2-40B4-BE49-F238E27FC236}">
                <a16:creationId xmlns:a16="http://schemas.microsoft.com/office/drawing/2014/main" id="{55FA79C3-4432-4423-8C1F-320040A9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desgaste, daño o condición evidencia?</a:t>
            </a:r>
          </a:p>
        </p:txBody>
      </p:sp>
      <p:sp>
        <p:nvSpPr>
          <p:cNvPr id="13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A61CDC56-4287-49F2-BCB1-8760AF46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4" name="evidence-instruction">
            <a:extLst xmlns:a="http://schemas.openxmlformats.org/drawingml/2006/main">
              <a:ext uri="{FF2B5EF4-FFF2-40B4-BE49-F238E27FC236}">
                <a16:creationId xmlns:a16="http://schemas.microsoft.com/office/drawing/2014/main" id="{4C1E3DFD-D77F-491D-A864-CD89FD17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5414"/>
                </a:solidFill>
              </a:defRPr>
            </a:pPr>
            <a:r>
              <a:rPr sz="1350" b="1">
                <a:solidFill>
                  <a:srgbClr val="705414"/>
                </a:solidFill>
              </a:rPr>
              <a:t>Cada imagen debe tener una explicación oral: qué muestra, por qué importa y qué conclusión permite sostener.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3AA8AACB-9A6F-483D-AC6A-B747B5F0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6" name="footer-text-5">
            <a:extLst xmlns:a="http://schemas.openxmlformats.org/drawingml/2006/main">
              <a:ext uri="{FF2B5EF4-FFF2-40B4-BE49-F238E27FC236}">
                <a16:creationId xmlns:a16="http://schemas.microsoft.com/office/drawing/2014/main" id="{32FE01BE-819B-44C2-98DD-71AEB5D5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7" name="page-5">
            <a:extLst xmlns:a="http://schemas.openxmlformats.org/drawingml/2006/main">
              <a:ext uri="{FF2B5EF4-FFF2-40B4-BE49-F238E27FC236}">
                <a16:creationId xmlns:a16="http://schemas.microsoft.com/office/drawing/2014/main" id="{8449495E-984B-44D6-9AEC-732C5A63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40893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6">
            <a:extLst xmlns:a="http://schemas.openxmlformats.org/drawingml/2006/main">
              <a:ext uri="{FF2B5EF4-FFF2-40B4-BE49-F238E27FC236}">
                <a16:creationId xmlns:a16="http://schemas.microsoft.com/office/drawing/2014/main" id="{4A7890EA-CC29-48F9-B74E-E0FDC7D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05 · RESULTADOS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62D7AF4-D9A4-4342-B0B1-E79206D7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diagnóstico conecta hallazgo, causa y consecuencia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A891C876-DE36-4919-9330-3EFE9BC8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head-HALLAZGO">
            <a:extLst xmlns:a="http://schemas.openxmlformats.org/drawingml/2006/main">
              <a:ext uri="{FF2B5EF4-FFF2-40B4-BE49-F238E27FC236}">
                <a16:creationId xmlns:a16="http://schemas.microsoft.com/office/drawing/2014/main" id="{875E662F-87DE-4F60-875F-F31AE3EA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12DE85-F111-47A0-9569-C69362F8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HALLAZGO</a:t>
            </a:r>
          </a:p>
        </p:txBody>
      </p:sp>
      <p:sp>
        <p:nvSpPr>
          <p:cNvPr id="6" name="head-EVIDENCIA">
            <a:extLst xmlns:a="http://schemas.openxmlformats.org/drawingml/2006/main">
              <a:ext uri="{FF2B5EF4-FFF2-40B4-BE49-F238E27FC236}">
                <a16:creationId xmlns:a16="http://schemas.microsoft.com/office/drawing/2014/main" id="{08CA6CEA-152D-4024-9290-8E9643E2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A73BBF6-7155-45D6-871B-66B81DDA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85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8" name="head-CAUSA PROBABLE">
            <a:extLst xmlns:a="http://schemas.openxmlformats.org/drawingml/2006/main">
              <a:ext uri="{FF2B5EF4-FFF2-40B4-BE49-F238E27FC236}">
                <a16:creationId xmlns:a16="http://schemas.microsoft.com/office/drawing/2014/main" id="{6ACC1847-773B-4084-AFDF-BCF2A4E5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33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2AA9CAC-CACD-49E2-920F-8821948C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CAUSA PROBABLE</a:t>
            </a:r>
          </a:p>
        </p:txBody>
      </p:sp>
      <p:sp>
        <p:nvSpPr>
          <p:cNvPr id="10" name="head-RIESGO O EFECTO">
            <a:extLst xmlns:a="http://schemas.openxmlformats.org/drawingml/2006/main">
              <a:ext uri="{FF2B5EF4-FFF2-40B4-BE49-F238E27FC236}">
                <a16:creationId xmlns:a16="http://schemas.microsoft.com/office/drawing/2014/main" id="{F3FF651D-1453-433A-A581-3AE0A24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5D0A7EA-1EBC-47A3-B534-6A11E878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RIESGO O EFECTO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91FD946C-35A8-4DD5-88B1-B4DDB2E8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CA36FC1-5A92-4783-B08C-0282DCB8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Condición observada</a:t>
            </a:r>
          </a:p>
        </p:txBody>
      </p:sp>
      <p:sp>
        <p:nvSpPr>
          <p:cNvPr id="14" name="cell-0-1">
            <a:extLst xmlns:a="http://schemas.openxmlformats.org/drawingml/2006/main">
              <a:ext uri="{FF2B5EF4-FFF2-40B4-BE49-F238E27FC236}">
                <a16:creationId xmlns:a16="http://schemas.microsoft.com/office/drawing/2014/main" id="{E6998F15-12B6-40BE-84F7-3E5FB3A8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44C87B4-BCB8-4E75-9A32-894AE54D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Foto, medición o prueba</a:t>
            </a:r>
          </a:p>
        </p:txBody>
      </p:sp>
      <p:sp>
        <p:nvSpPr>
          <p:cNvPr id="16" name="cell-0-2">
            <a:extLst xmlns:a="http://schemas.openxmlformats.org/drawingml/2006/main">
              <a:ext uri="{FF2B5EF4-FFF2-40B4-BE49-F238E27FC236}">
                <a16:creationId xmlns:a16="http://schemas.microsoft.com/office/drawing/2014/main" id="{83348905-C5CC-418B-8E13-5E9B268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C411BF1-3DD3-4B97-8749-86C0C17E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955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Explicación técnica</a:t>
            </a:r>
          </a:p>
        </p:txBody>
      </p:sp>
      <p:sp>
        <p:nvSpPr>
          <p:cNvPr id="18" name="cell-0-3">
            <a:extLst xmlns:a="http://schemas.openxmlformats.org/drawingml/2006/main">
              <a:ext uri="{FF2B5EF4-FFF2-40B4-BE49-F238E27FC236}">
                <a16:creationId xmlns:a16="http://schemas.microsoft.com/office/drawing/2014/main" id="{43FE76D4-4291-498C-8F50-7BADAA73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8329BC4-98F2-4639-9D0B-FE095EDF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Efecto en operación o seguridad</a:t>
            </a:r>
          </a:p>
        </p:txBody>
      </p:sp>
      <p:sp>
        <p:nvSpPr>
          <p:cNvPr id="20" name="cell-1-0">
            <a:extLst xmlns:a="http://schemas.openxmlformats.org/drawingml/2006/main">
              <a:ext uri="{FF2B5EF4-FFF2-40B4-BE49-F238E27FC236}">
                <a16:creationId xmlns:a16="http://schemas.microsoft.com/office/drawing/2014/main" id="{2C11DCAF-E452-4E5C-8BE4-55A8162D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F88AF77-5660-4319-A008-0DCFD9E7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2" name="cell-1-1">
            <a:extLst xmlns:a="http://schemas.openxmlformats.org/drawingml/2006/main">
              <a:ext uri="{FF2B5EF4-FFF2-40B4-BE49-F238E27FC236}">
                <a16:creationId xmlns:a16="http://schemas.microsoft.com/office/drawing/2014/main" id="{41F51DBF-AE40-44ED-999F-69AF9016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20D0D3C-759C-418F-BCE6-20DE97E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4" name="cell-1-2">
            <a:extLst xmlns:a="http://schemas.openxmlformats.org/drawingml/2006/main">
              <a:ext uri="{FF2B5EF4-FFF2-40B4-BE49-F238E27FC236}">
                <a16:creationId xmlns:a16="http://schemas.microsoft.com/office/drawing/2014/main" id="{7BA03FF8-9A59-4C93-AC13-16D8A078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093FDA1-360F-4BEB-802E-B38A84D4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623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6" name="cell-1-3">
            <a:extLst xmlns:a="http://schemas.openxmlformats.org/drawingml/2006/main">
              <a:ext uri="{FF2B5EF4-FFF2-40B4-BE49-F238E27FC236}">
                <a16:creationId xmlns:a16="http://schemas.microsoft.com/office/drawing/2014/main" id="{243A0528-0B43-41E4-AE73-9B70F9C9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F3C9C1D-E764-4376-A476-0616C0B9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8" name="cell-2-0">
            <a:extLst xmlns:a="http://schemas.openxmlformats.org/drawingml/2006/main">
              <a:ext uri="{FF2B5EF4-FFF2-40B4-BE49-F238E27FC236}">
                <a16:creationId xmlns:a16="http://schemas.microsoft.com/office/drawing/2014/main" id="{6D2B2E02-B2C4-4A59-A6D7-5F9F632F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89D6206-9420-4FEA-B520-9965F88B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0" name="cell-2-1">
            <a:extLst xmlns:a="http://schemas.openxmlformats.org/drawingml/2006/main">
              <a:ext uri="{FF2B5EF4-FFF2-40B4-BE49-F238E27FC236}">
                <a16:creationId xmlns:a16="http://schemas.microsoft.com/office/drawing/2014/main" id="{E1C85EB0-6F43-48E5-84B1-D1EB149C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815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0649F34-ADB3-4549-8CCC-D0A08EF1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29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2" name="cell-2-2">
            <a:extLst xmlns:a="http://schemas.openxmlformats.org/drawingml/2006/main">
              <a:ext uri="{FF2B5EF4-FFF2-40B4-BE49-F238E27FC236}">
                <a16:creationId xmlns:a16="http://schemas.microsoft.com/office/drawing/2014/main" id="{1AB6A8F8-06EB-4B8F-A151-6A6FE4A5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81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CDD34F7-5AE2-4D0E-904A-A42AAEFF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4" name="cell-2-3">
            <a:extLst xmlns:a="http://schemas.openxmlformats.org/drawingml/2006/main">
              <a:ext uri="{FF2B5EF4-FFF2-40B4-BE49-F238E27FC236}">
                <a16:creationId xmlns:a16="http://schemas.microsoft.com/office/drawing/2014/main" id="{574D1534-0478-4565-BC37-C48B00B1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743859D-75B3-4814-A2F5-A791E505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6" name="diagnostic-conclusion">
            <a:extLst xmlns:a="http://schemas.openxmlformats.org/drawingml/2006/main">
              <a:ext uri="{FF2B5EF4-FFF2-40B4-BE49-F238E27FC236}">
                <a16:creationId xmlns:a16="http://schemas.microsoft.com/office/drawing/2014/main" id="{FFF0CCB8-8D32-4E5B-923C-05D6BF9E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25C"/>
                </a:solidFill>
              </a:defRPr>
            </a:pPr>
            <a:r>
              <a:rPr sz="1425" b="1">
                <a:solidFill>
                  <a:srgbClr val="17825C"/>
                </a:solidFill>
              </a:rPr>
              <a:t>Conclusión diagnóstica: formulen una afirmación respaldada por los datos anteriores.</a:t>
            </a:r>
          </a:p>
        </p:txBody>
      </p:sp>
      <p:sp>
        <p:nvSpPr>
          <p:cNvPr id="37" name="footer-6">
            <a:extLst xmlns:a="http://schemas.openxmlformats.org/drawingml/2006/main">
              <a:ext uri="{FF2B5EF4-FFF2-40B4-BE49-F238E27FC236}">
                <a16:creationId xmlns:a16="http://schemas.microsoft.com/office/drawing/2014/main" id="{FC6013EC-85B1-4C9A-8613-6B406E47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38" name="footer-text-6">
            <a:extLst xmlns:a="http://schemas.openxmlformats.org/drawingml/2006/main">
              <a:ext uri="{FF2B5EF4-FFF2-40B4-BE49-F238E27FC236}">
                <a16:creationId xmlns:a16="http://schemas.microsoft.com/office/drawing/2014/main" id="{891ABBF5-2EC3-48CC-AAC2-09BD2F79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39" name="page-6">
            <a:extLst xmlns:a="http://schemas.openxmlformats.org/drawingml/2006/main">
              <a:ext uri="{FF2B5EF4-FFF2-40B4-BE49-F238E27FC236}">
                <a16:creationId xmlns:a16="http://schemas.microsoft.com/office/drawing/2014/main" id="{AFE1E33E-69D4-4291-9064-D88697F6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3552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7">
            <a:extLst xmlns:a="http://schemas.openxmlformats.org/drawingml/2006/main">
              <a:ext uri="{FF2B5EF4-FFF2-40B4-BE49-F238E27FC236}">
                <a16:creationId xmlns:a16="http://schemas.microsoft.com/office/drawing/2014/main" id="{C23DAF07-3D0D-4438-871C-F9C99BF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06 · PLAN DE ACCIÓN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EBA5A61-E61F-4AFF-A739-86D3A833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propuesta transforma el diagnóstico en mantenimiento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9B0ED4BA-99D9-45A4-A544-785907D0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plan-1">
            <a:extLst xmlns:a="http://schemas.openxmlformats.org/drawingml/2006/main">
              <a:ext uri="{FF2B5EF4-FFF2-40B4-BE49-F238E27FC236}">
                <a16:creationId xmlns:a16="http://schemas.microsoft.com/office/drawing/2014/main" id="{BAF38C11-F968-4298-8C11-29FC5B48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plan-accent-1">
            <a:extLst xmlns:a="http://schemas.openxmlformats.org/drawingml/2006/main">
              <a:ext uri="{FF2B5EF4-FFF2-40B4-BE49-F238E27FC236}">
                <a16:creationId xmlns:a16="http://schemas.microsoft.com/office/drawing/2014/main" id="{F8949D16-5FA1-4DB0-A082-399C3DEB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9525">
            <a:solidFill>
              <a:srgbClr val="0B5ED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24F630-5105-4645-8249-C113E3C5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Acción inmediata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E8B7B46-E23E-4842-8B47-E6E95E75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se debe limpiar, ajustar, reemplazar, lubricar o comprobar?</a:t>
            </a:r>
          </a:p>
        </p:txBody>
      </p:sp>
      <p:sp>
        <p:nvSpPr>
          <p:cNvPr id="8" name="plan-2">
            <a:extLst xmlns:a="http://schemas.openxmlformats.org/drawingml/2006/main">
              <a:ext uri="{FF2B5EF4-FFF2-40B4-BE49-F238E27FC236}">
                <a16:creationId xmlns:a16="http://schemas.microsoft.com/office/drawing/2014/main" id="{C298C514-EA34-41C8-9DA5-D3C0F82E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9" name="plan-accent-2">
            <a:extLst xmlns:a="http://schemas.openxmlformats.org/drawingml/2006/main">
              <a:ext uri="{FF2B5EF4-FFF2-40B4-BE49-F238E27FC236}">
                <a16:creationId xmlns:a16="http://schemas.microsoft.com/office/drawing/2014/main" id="{D2853491-EB7F-4F4E-A400-0AF00348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25C"/>
          </a:solidFill>
          <a:ln xmlns:a="http://schemas.openxmlformats.org/drawingml/2006/main" w="9525">
            <a:solidFill>
              <a:srgbClr val="17825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AAB00B-3A8C-4D23-84D6-1F7AACDF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Prevención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C173BEE-83D0-42E2-ABC2-F80961FF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tarea periódica evitaría que el problema reaparezca?</a:t>
            </a:r>
          </a:p>
        </p:txBody>
      </p:sp>
      <p:sp>
        <p:nvSpPr>
          <p:cNvPr id="12" name="plan-3">
            <a:extLst xmlns:a="http://schemas.openxmlformats.org/drawingml/2006/main">
              <a:ext uri="{FF2B5EF4-FFF2-40B4-BE49-F238E27FC236}">
                <a16:creationId xmlns:a16="http://schemas.microsoft.com/office/drawing/2014/main" id="{77C6EE43-D1C7-4FD0-8913-D5444CA8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plan-accent-3">
            <a:extLst xmlns:a="http://schemas.openxmlformats.org/drawingml/2006/main">
              <a:ext uri="{FF2B5EF4-FFF2-40B4-BE49-F238E27FC236}">
                <a16:creationId xmlns:a16="http://schemas.microsoft.com/office/drawing/2014/main" id="{D8D4BB9F-4AE9-4C53-A41C-38F7932E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040"/>
          </a:solidFill>
          <a:ln xmlns:a="http://schemas.openxmlformats.org/drawingml/2006/main" w="9525">
            <a:solidFill>
              <a:srgbClr val="B6404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EC2B5D5-9970-45F0-8EB2-2BE0D432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Seguridad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3429077-2B72-47ED-BA19-18DA54B9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720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riesgo, EPP y control deben considerarse?</a:t>
            </a:r>
          </a:p>
        </p:txBody>
      </p:sp>
      <p:sp>
        <p:nvSpPr>
          <p:cNvPr id="16" name="feasibility">
            <a:extLst xmlns:a="http://schemas.openxmlformats.org/drawingml/2006/main">
              <a:ext uri="{FF2B5EF4-FFF2-40B4-BE49-F238E27FC236}">
                <a16:creationId xmlns:a16="http://schemas.microsoft.com/office/drawing/2014/main" id="{BA939FDB-6D66-4306-9C21-7D3593EC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A903DB8-8020-48D5-8EE6-7B93E90F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5414"/>
                </a:solidFill>
              </a:defRPr>
            </a:pPr>
            <a:r>
              <a:rPr sz="1275" b="1">
                <a:solidFill>
                  <a:srgbClr val="705414"/>
                </a:solidFill>
              </a:rPr>
              <a:t>La recomendación debe ser viable para el taller y coherente con la evidencia presentada.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A36B92F8-644A-4FDD-87E9-8DFC505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9" name="footer-text-7">
            <a:extLst xmlns:a="http://schemas.openxmlformats.org/drawingml/2006/main">
              <a:ext uri="{FF2B5EF4-FFF2-40B4-BE49-F238E27FC236}">
                <a16:creationId xmlns:a16="http://schemas.microsoft.com/office/drawing/2014/main" id="{A4D7F66C-8D38-428F-853A-712099CF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0" name="page-7">
            <a:extLst xmlns:a="http://schemas.openxmlformats.org/drawingml/2006/main">
              <a:ext uri="{FF2B5EF4-FFF2-40B4-BE49-F238E27FC236}">
                <a16:creationId xmlns:a16="http://schemas.microsoft.com/office/drawing/2014/main" id="{6123F293-FEE4-4253-9064-27A13DE0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7008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505FEC4-2804-4A4A-8DC6-524129FF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intervención permite concluir y decidir</a:t>
            </a:r>
          </a:p>
        </p:txBody>
      </p:sp>
      <p:sp>
        <p:nvSpPr>
          <p:cNvPr id="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1E80DD2F-2F8F-46C6-8B4A-0B492E28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447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3" name="conclusion-1">
            <a:extLst xmlns:a="http://schemas.openxmlformats.org/drawingml/2006/main">
              <a:ext uri="{FF2B5EF4-FFF2-40B4-BE49-F238E27FC236}">
                <a16:creationId xmlns:a16="http://schemas.microsoft.com/office/drawing/2014/main" id="{8F205EBE-174E-49E3-A2DF-8AE4B3F3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B676556-35ED-4761-AD56-A125420B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1 · Qué condición técnica comprobaron.</a:t>
            </a:r>
          </a:p>
        </p:txBody>
      </p:sp>
      <p:sp>
        <p:nvSpPr>
          <p:cNvPr id="5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FE5B5E34-132C-40AD-B7CA-FC81AD12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C2FB709-ABFF-42D0-A3D2-FC6DB9FD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2 · Qué evidencia fue decisiva para el diagnóstico.</a:t>
            </a:r>
          </a:p>
        </p:txBody>
      </p:sp>
      <p:sp>
        <p:nvSpPr>
          <p:cNvPr id="7" name="conclusion-3">
            <a:extLst xmlns:a="http://schemas.openxmlformats.org/drawingml/2006/main">
              <a:ext uri="{FF2B5EF4-FFF2-40B4-BE49-F238E27FC236}">
                <a16:creationId xmlns:a16="http://schemas.microsoft.com/office/drawing/2014/main" id="{F22A5234-AF4B-4A0A-9A84-93F07972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E6B5735-D03F-429F-85A3-E73A7BB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3 · Qué acción recomiendan y por qué.</a:t>
            </a:r>
          </a:p>
        </p:txBody>
      </p:sp>
      <p:sp>
        <p:nvSpPr>
          <p:cNvPr id="9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8E2B5146-6B1D-4713-A5D6-07EF9742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61e67ece54c2a"/>
          <a:stretch xmlns:a="http://schemas.openxmlformats.org/drawingml/2006/main"/>
        </p:blipFill>
        <p:spPr>
          <a:xfrm xmlns:a="http://schemas.openxmlformats.org/drawingml/2006/main">
            <a:off x="9315450" y="20383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FAC1B5A-714F-4723-B09D-CB917D08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D3F"/>
                </a:solidFill>
              </a:defRPr>
            </a:pPr>
            <a:r>
              <a:rPr sz="2400" b="1">
                <a:solidFill>
                  <a:srgbClr val="111D3F"/>
                </a:solidFill>
              </a:rPr>
              <a:t>Preguntas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105230-160D-4707-B08B-2700AE6A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El equipo responde utilizando evidencia del informe y del trabajo realizado.</a:t>
            </a:r>
          </a:p>
        </p:txBody>
      </p:sp>
      <p:sp>
        <p:nvSpPr>
          <p:cNvPr id="13" name="final-callout">
            <a:extLst xmlns:a="http://schemas.openxmlformats.org/drawingml/2006/main">
              <a:ext uri="{FF2B5EF4-FFF2-40B4-BE49-F238E27FC236}">
                <a16:creationId xmlns:a16="http://schemas.microsoft.com/office/drawing/2014/main" id="{E3633950-BE3B-4C1D-998F-0D1D2A94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C235"/>
                </a:solidFill>
              </a:defRPr>
            </a:pPr>
            <a:r>
              <a:rPr sz="1575" b="1">
                <a:solidFill>
                  <a:srgbClr val="F5C235"/>
                </a:solidFill>
              </a:rPr>
              <a:t>Defiendan las decisiones técnicas; no repitan de memoria.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5A98234-AC61-44B5-AD79-232D79CB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2026</a:t>
            </a:r>
          </a:p>
        </p:txBody>
      </p:sp>
    </p:spTree>
    <p:extLst>
      <p:ext uri="{BB962C8B-B14F-4D97-AF65-F5344CB8AC3E}">
        <p14:creationId xmlns:p14="http://schemas.microsoft.com/office/powerpoint/2010/main" val="77234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2026-07-24T12:43:42.8770000Z</dcterms:created>
  <dcterms:modified xsi:type="dcterms:W3CDTF">2026-07-24T12:43:42.8770000Z</dcterms:modified>
</coreProperties>
</file>